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36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13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0C000D47-6AFE-30A0-8795-3A13C9EAB00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D089DBEA-8901-AF48-3A79-40B3C8D264EC}"/>
              </a:ext>
            </a:extLst>
          </p:cNvPr>
          <p:cNvSpPr/>
          <p:nvPr/>
        </p:nvSpPr>
        <p:spPr>
          <a:xfrm>
            <a:off x="640080" y="1280160"/>
            <a:ext cx="54864" cy="2377440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6BA23E27-67A9-EDA8-E946-9C16021C9027}"/>
              </a:ext>
            </a:extLst>
          </p:cNvPr>
          <p:cNvSpPr/>
          <p:nvPr/>
        </p:nvSpPr>
        <p:spPr>
          <a:xfrm>
            <a:off x="1005840" y="1463040"/>
            <a:ext cx="61902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Calibri" panose="020F0502020204030204" pitchFamily="34" charset="0"/>
              </a:rPr>
              <a:t>Tech Entity and Investor Support</a:t>
            </a:r>
            <a:endParaRPr lang="en-US" sz="4000" dirty="0"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11B6F1C-A905-E030-24E4-8F14DC1EF53C}"/>
              </a:ext>
            </a:extLst>
          </p:cNvPr>
          <p:cNvSpPr/>
          <p:nvPr/>
        </p:nvSpPr>
        <p:spPr>
          <a:xfrm>
            <a:off x="1005840" y="2766061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8230 Leesburg Pike, Vienna, VA, 22182, USA </a:t>
            </a:r>
          </a:p>
          <a:p>
            <a:r>
              <a:rPr lang="en-US" sz="1600" dirty="0">
                <a:solidFill>
                  <a:srgbClr val="1A7F8E"/>
                </a:solidFill>
                <a:latin typeface="Calibri" pitchFamily="34" charset="0"/>
                <a:cs typeface="Calibri" pitchFamily="34" charset="-120"/>
              </a:rPr>
              <a:t>143 Hills Road, Cambridge, CB2 8RA, UK</a:t>
            </a:r>
            <a:endParaRPr lang="en-US" sz="1600" dirty="0">
              <a:solidFill>
                <a:srgbClr val="1A7F8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08F4B8B-BABD-2889-FF60-6A4794B6F602}"/>
              </a:ext>
            </a:extLst>
          </p:cNvPr>
          <p:cNvSpPr/>
          <p:nvPr/>
        </p:nvSpPr>
        <p:spPr>
          <a:xfrm>
            <a:off x="1005840" y="33604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22BF66D7-8745-8413-7EFA-DA5793BDB78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8BD3987-8ACA-F409-7144-B7BAB3C33430}"/>
              </a:ext>
            </a:extLst>
          </p:cNvPr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AND THRIVE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E623ED-A170-E829-2524-49E8C25A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937" y="320194"/>
            <a:ext cx="888863" cy="694635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25DD3452-C2AE-0E86-7E90-6EDBE6248DBA}"/>
              </a:ext>
            </a:extLst>
          </p:cNvPr>
          <p:cNvSpPr/>
          <p:nvPr/>
        </p:nvSpPr>
        <p:spPr>
          <a:xfrm>
            <a:off x="7928712" y="1127374"/>
            <a:ext cx="627312" cy="335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ea typeface="Georgia" pitchFamily="34" charset="-122"/>
                <a:cs typeface="Calibri" panose="020F0502020204030204" pitchFamily="34" charset="0"/>
              </a:rPr>
              <a:t>AIPI</a:t>
            </a:r>
            <a:endParaRPr lang="en-US" sz="24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07FEE99D-0E55-86AB-5CC0-CB69328B5500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04CA67A-BD41-6EA4-8B0B-9AC3B0EA64A1}"/>
              </a:ext>
            </a:extLst>
          </p:cNvPr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LLC  |  www.AiPiSolutions.com  |  Confidential</a:t>
            </a:r>
            <a:endParaRPr lang="en-US" sz="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FDC1456-60F1-1AC7-329F-92C52AD16C78}"/>
              </a:ext>
            </a:extLst>
          </p:cNvPr>
          <p:cNvSpPr/>
          <p:nvPr/>
        </p:nvSpPr>
        <p:spPr>
          <a:xfrm>
            <a:off x="640080" y="1436876"/>
            <a:ext cx="7863840" cy="9744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ACC04E5-B199-176A-0D3F-E31CD3E01582}"/>
              </a:ext>
            </a:extLst>
          </p:cNvPr>
          <p:cNvSpPr/>
          <p:nvPr/>
        </p:nvSpPr>
        <p:spPr>
          <a:xfrm>
            <a:off x="640080" y="1436876"/>
            <a:ext cx="45720" cy="943751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1889DCE-ED24-2090-D6BC-081DF3051A5A}"/>
              </a:ext>
            </a:extLst>
          </p:cNvPr>
          <p:cNvSpPr/>
          <p:nvPr/>
        </p:nvSpPr>
        <p:spPr>
          <a:xfrm>
            <a:off x="1508760" y="1474952"/>
            <a:ext cx="6766560" cy="18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cs typeface="Calibri" pitchFamily="34" charset="-120"/>
              </a:rPr>
              <a:t>Provide Funding</a:t>
            </a:r>
            <a:endParaRPr lang="en-US" sz="1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36B940FE-EA2B-BF63-1D64-D7FC377BF486}"/>
              </a:ext>
            </a:extLst>
          </p:cNvPr>
          <p:cNvSpPr/>
          <p:nvPr/>
        </p:nvSpPr>
        <p:spPr>
          <a:xfrm>
            <a:off x="1508760" y="1697506"/>
            <a:ext cx="6995160" cy="642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AiPi and its investor network invest in a wide range of early-stage tech entities, and are requested by our customers to communicate with a variety of other outside investors including high net-worth individuals, family offices and institutional investors.  Investments are facilitated by AiPi’s unique ability to: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Prove and expand tech differentiators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Obtain meaningful patents to prevent developed tech from being hijacked and otherwise provide a financial safety net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Improve and implement revenue models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21D62DF-3E4E-AD38-198F-0CA755A9F9C0}"/>
              </a:ext>
            </a:extLst>
          </p:cNvPr>
          <p:cNvSpPr/>
          <p:nvPr/>
        </p:nvSpPr>
        <p:spPr>
          <a:xfrm>
            <a:off x="608275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Tech Entities Investable and Facilitating Growth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D5BADAF9-5E56-6E47-FA32-B215DA44F91A}"/>
              </a:ext>
            </a:extLst>
          </p:cNvPr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3BC44EF1-28FD-EFB9-81AF-78361071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66" y="1683308"/>
            <a:ext cx="481627" cy="481627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322866A1-CD02-3EA3-BCF2-1075DC8089F9}"/>
              </a:ext>
            </a:extLst>
          </p:cNvPr>
          <p:cNvSpPr/>
          <p:nvPr/>
        </p:nvSpPr>
        <p:spPr>
          <a:xfrm>
            <a:off x="640080" y="9182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delivers a host of services that: </a:t>
            </a:r>
            <a:endParaRPr lang="en-US" sz="115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BF2095B-83C4-AE98-9673-49D216E8881C}"/>
              </a:ext>
            </a:extLst>
          </p:cNvPr>
          <p:cNvSpPr/>
          <p:nvPr/>
        </p:nvSpPr>
        <p:spPr>
          <a:xfrm>
            <a:off x="640080" y="2511704"/>
            <a:ext cx="7863840" cy="9744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2579C791-4A01-7012-93A4-88D8291AAB2B}"/>
              </a:ext>
            </a:extLst>
          </p:cNvPr>
          <p:cNvSpPr/>
          <p:nvPr/>
        </p:nvSpPr>
        <p:spPr>
          <a:xfrm>
            <a:off x="640080" y="2511704"/>
            <a:ext cx="45720" cy="943751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AF032C96-5619-7565-4902-492C4C390766}"/>
              </a:ext>
            </a:extLst>
          </p:cNvPr>
          <p:cNvSpPr/>
          <p:nvPr/>
        </p:nvSpPr>
        <p:spPr>
          <a:xfrm>
            <a:off x="640080" y="3581780"/>
            <a:ext cx="7863840" cy="9744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6462080A-2493-B1F1-AA14-87D754EF54EB}"/>
              </a:ext>
            </a:extLst>
          </p:cNvPr>
          <p:cNvSpPr/>
          <p:nvPr/>
        </p:nvSpPr>
        <p:spPr>
          <a:xfrm>
            <a:off x="640080" y="3581780"/>
            <a:ext cx="45720" cy="943751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1FC9B587-A7D1-359D-28E4-9D8CA305A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66" y="3828212"/>
            <a:ext cx="481627" cy="481627"/>
          </a:xfrm>
          <a:prstGeom prst="rect">
            <a:avLst/>
          </a:prstGeom>
        </p:spPr>
      </p:pic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85678EBF-55D2-0BF3-4CA4-42085E588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66" y="2758137"/>
            <a:ext cx="481626" cy="481626"/>
          </a:xfrm>
          <a:prstGeom prst="rect">
            <a:avLst/>
          </a:prstGeom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1FC1F8BB-3E99-1F8F-5B30-8ECE42FCE07D}"/>
              </a:ext>
            </a:extLst>
          </p:cNvPr>
          <p:cNvSpPr/>
          <p:nvPr/>
        </p:nvSpPr>
        <p:spPr>
          <a:xfrm>
            <a:off x="1508760" y="2545028"/>
            <a:ext cx="6766560" cy="18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cs typeface="Calibri" pitchFamily="34" charset="-120"/>
              </a:rPr>
              <a:t>Initiate and Scale Revenue</a:t>
            </a:r>
            <a:endParaRPr lang="en-US" sz="10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F83CCC8C-D211-11CA-3739-A9D77DE432C1}"/>
              </a:ext>
            </a:extLst>
          </p:cNvPr>
          <p:cNvSpPr/>
          <p:nvPr/>
        </p:nvSpPr>
        <p:spPr>
          <a:xfrm>
            <a:off x="1508760" y="2808811"/>
            <a:ext cx="6995160" cy="642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AiPi’s expertise allows us to: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Improve minimum viable and next gen product/service designs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Facilitate manufacturing and/or delivery of products/services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Initiate customer outreach and manage customer relationships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1849F595-FE36-D464-2E4C-49F236FF5052}"/>
              </a:ext>
            </a:extLst>
          </p:cNvPr>
          <p:cNvSpPr/>
          <p:nvPr/>
        </p:nvSpPr>
        <p:spPr>
          <a:xfrm>
            <a:off x="1508760" y="3618616"/>
            <a:ext cx="6766560" cy="18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cs typeface="Calibri" pitchFamily="34" charset="-120"/>
              </a:rPr>
              <a:t>Facilitate US Market Entry</a:t>
            </a:r>
            <a:endParaRPr lang="en-US" sz="10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D7721505-2FBC-011B-FE17-935659B6C129}"/>
              </a:ext>
            </a:extLst>
          </p:cNvPr>
          <p:cNvSpPr/>
          <p:nvPr/>
        </p:nvSpPr>
        <p:spPr>
          <a:xfrm>
            <a:off x="1508760" y="3882399"/>
            <a:ext cx="6995160" cy="642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AiPi’s resources enable overseas entities to effectively access the larger and less regulated US market by: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Managing logistical issues including legal and regulatory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Finding US customers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Identifying US channel partner relationships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LLC  |  www.AiPiSolutions.com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54864" cy="3291840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Unique Technical Due Diligence</a:t>
            </a:r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AiPi’s proprietary AI platforms show competitors’ commercialization efforts and patent rights in an industry sector, and then overlay that landscape with a tech entity’s planned product/service. The resulting analyses enable AiPi to: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and create differentiators for the purpose of enhancing investment decisions</a:t>
            </a:r>
          </a:p>
          <a:p>
            <a:pPr marL="17145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cs typeface="Calibri" pitchFamily="34" charset="-120"/>
              </a:rPr>
              <a:t>Confirm whether AiPi can create monetizable strategic patent portfolios to act as a safety net for investments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54864" cy="3291840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33772" y="1234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Outcomes of Portfolio Companies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AiPi’s proprietary AI platforms and experience allow us to: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minimum viable and next gen product/service designs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monetize patent portfolios, and otherwise avoid the patent rights of others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sales and new business unit creation</a:t>
            </a:r>
          </a:p>
          <a:p>
            <a:pPr marL="228600" indent="-2286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cs typeface="Calibri" pitchFamily="34" charset="-120"/>
              </a:rPr>
              <a:t>Facilitate owner/investor exit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D4DA6B59-27DD-4446-3CC5-C9E2E060A8B2}"/>
              </a:ext>
            </a:extLst>
          </p:cNvPr>
          <p:cNvSpPr/>
          <p:nvPr/>
        </p:nvSpPr>
        <p:spPr>
          <a:xfrm>
            <a:off x="640080" y="2880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Partnering with Investment Entities and Accelerators</a:t>
            </a:r>
            <a:endParaRPr lang="en-US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01A47DD-7F2F-76BE-9D11-1D53882E0056}"/>
              </a:ext>
            </a:extLst>
          </p:cNvPr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LLC  |  www.AiPiSolutions.com  |  Confidential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40080" y="1436876"/>
            <a:ext cx="7863840" cy="1316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40080" y="1436876"/>
            <a:ext cx="45720" cy="1316448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06" y="1854286"/>
            <a:ext cx="481627" cy="4816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1482595"/>
            <a:ext cx="6766560" cy="48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Platforms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508760" y="1852207"/>
            <a:ext cx="6766560" cy="642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in-house based on our expertise in platform development and sophistication in business/finance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cs typeface="Calibri" pitchFamily="34" charset="-120"/>
              </a:rPr>
              <a:t>Provide a clear and reliable sense of where customers’ tech fits into the relevant industry landscape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cs typeface="Calibri" pitchFamily="34" charset="-120"/>
              </a:rPr>
              <a:t>Enhance business and revenue modeling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C7F31BC6-D8F9-17A3-0470-9A185F4AE9E6}"/>
              </a:ext>
            </a:extLst>
          </p:cNvPr>
          <p:cNvSpPr/>
          <p:nvPr/>
        </p:nvSpPr>
        <p:spPr>
          <a:xfrm>
            <a:off x="640080" y="2880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AiPi’s Unique Approach – How We Get to Goal</a:t>
            </a:r>
            <a:endParaRPr lang="en-US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B36B3A94-724D-46A2-DD45-6C9E0F79DDCD}"/>
              </a:ext>
            </a:extLst>
          </p:cNvPr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A11FF5F8-41D0-2D6B-F3D7-DACB363B694E}"/>
              </a:ext>
            </a:extLst>
          </p:cNvPr>
          <p:cNvSpPr/>
          <p:nvPr/>
        </p:nvSpPr>
        <p:spPr>
          <a:xfrm>
            <a:off x="640080" y="2998656"/>
            <a:ext cx="7863840" cy="1316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F9BAF8DC-D8FA-A9FC-5ECB-04AB204F653D}"/>
              </a:ext>
            </a:extLst>
          </p:cNvPr>
          <p:cNvSpPr/>
          <p:nvPr/>
        </p:nvSpPr>
        <p:spPr>
          <a:xfrm>
            <a:off x="640080" y="2998656"/>
            <a:ext cx="45720" cy="1316448"/>
          </a:xfrm>
          <a:prstGeom prst="rect">
            <a:avLst/>
          </a:prstGeom>
          <a:solidFill>
            <a:srgbClr val="1A7F8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9BFB09F-4EAF-7899-A72B-41E06EDDF55E}"/>
              </a:ext>
            </a:extLst>
          </p:cNvPr>
          <p:cNvSpPr/>
          <p:nvPr/>
        </p:nvSpPr>
        <p:spPr>
          <a:xfrm>
            <a:off x="1463040" y="3061097"/>
            <a:ext cx="6766560" cy="48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AiPi’s Professional Expertise</a:t>
            </a:r>
            <a:endParaRPr lang="en-US" sz="12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BDF6281E-DB0F-78AD-1E6E-F9BD3C5E7B4A}"/>
              </a:ext>
            </a:extLst>
          </p:cNvPr>
          <p:cNvSpPr/>
          <p:nvPr/>
        </p:nvSpPr>
        <p:spPr>
          <a:xfrm>
            <a:off x="1463040" y="3542724"/>
            <a:ext cx="6766560" cy="642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Tech/Scientific expertise for identifying/creating differentiators, optimizing minimum viable and next gen products/services, and creating strategic patent portfolios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skills for identifying customers and managing relationships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sophistication for initiating and expanding US sales/revenue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68" y="3416066"/>
            <a:ext cx="481627" cy="481627"/>
          </a:xfrm>
          <a:prstGeom prst="rect">
            <a:avLst/>
          </a:prstGeom>
        </p:spPr>
      </p:pic>
      <p:sp>
        <p:nvSpPr>
          <p:cNvPr id="48" name="Text 4">
            <a:extLst>
              <a:ext uri="{FF2B5EF4-FFF2-40B4-BE49-F238E27FC236}">
                <a16:creationId xmlns:a16="http://schemas.microsoft.com/office/drawing/2014/main" id="{0AE7FE49-200A-3165-CE3B-133F59E62FB7}"/>
              </a:ext>
            </a:extLst>
          </p:cNvPr>
          <p:cNvSpPr/>
          <p:nvPr/>
        </p:nvSpPr>
        <p:spPr>
          <a:xfrm>
            <a:off x="640080" y="9182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is able to get to goal based on: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LLC  |  www.AiPiSolutions.com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94760" cy="15087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536430" y="1293876"/>
            <a:ext cx="1898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Joe Eaton</a:t>
            </a:r>
            <a:endParaRPr lang="en-US" sz="1400" b="1" dirty="0"/>
          </a:p>
        </p:txBody>
      </p:sp>
      <p:sp>
        <p:nvSpPr>
          <p:cNvPr id="11" name="Text 8"/>
          <p:cNvSpPr/>
          <p:nvPr/>
        </p:nvSpPr>
        <p:spPr>
          <a:xfrm>
            <a:off x="2536430" y="1771959"/>
            <a:ext cx="1898410" cy="28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Business Leadership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794760" cy="15087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652260" y="1293876"/>
            <a:ext cx="1898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Eric Morehouse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2743200"/>
            <a:ext cx="3794760" cy="15087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536430" y="2986627"/>
            <a:ext cx="169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Mete Ozmen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754880" y="2743200"/>
            <a:ext cx="3794760" cy="15087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CEDB044F-EB40-6294-C738-BFEA77ABFCC8}"/>
              </a:ext>
            </a:extLst>
          </p:cNvPr>
          <p:cNvSpPr/>
          <p:nvPr/>
        </p:nvSpPr>
        <p:spPr>
          <a:xfrm>
            <a:off x="640080" y="2880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AiPi’s Leadership Team</a:t>
            </a:r>
            <a:endParaRPr lang="en-US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39B5617F-43F3-7568-56B9-EDC2FC2EBEB6}"/>
              </a:ext>
            </a:extLst>
          </p:cNvPr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E887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7ADFE215-7955-4B39-4D40-2153CA40E42A}"/>
              </a:ext>
            </a:extLst>
          </p:cNvPr>
          <p:cNvSpPr/>
          <p:nvPr/>
        </p:nvSpPr>
        <p:spPr>
          <a:xfrm>
            <a:off x="2536430" y="3460510"/>
            <a:ext cx="1898410" cy="28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Business Operations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BFF5E67-29AD-18DD-6875-4132991C7E5C}"/>
              </a:ext>
            </a:extLst>
          </p:cNvPr>
          <p:cNvSpPr/>
          <p:nvPr/>
        </p:nvSpPr>
        <p:spPr>
          <a:xfrm>
            <a:off x="6652260" y="1663837"/>
            <a:ext cx="1898410" cy="28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and Services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A527A87B-B4DC-BD5B-23CD-AE5D4D612B4A}"/>
              </a:ext>
            </a:extLst>
          </p:cNvPr>
          <p:cNvSpPr/>
          <p:nvPr/>
        </p:nvSpPr>
        <p:spPr>
          <a:xfrm>
            <a:off x="6651230" y="2988336"/>
            <a:ext cx="1898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Drew Davis</a:t>
            </a:r>
            <a:endParaRPr lang="en-US" sz="1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DB15ED4B-F7F6-3F3F-755F-6880E99AA5F7}"/>
              </a:ext>
            </a:extLst>
          </p:cNvPr>
          <p:cNvSpPr/>
          <p:nvPr/>
        </p:nvSpPr>
        <p:spPr>
          <a:xfrm>
            <a:off x="6651230" y="3460509"/>
            <a:ext cx="1898410" cy="28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and Customer Support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E762D52-F6FF-DE0B-7E20-DEEF7FDE2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" y="1051560"/>
            <a:ext cx="1508759" cy="15087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223A40-B545-047D-6F51-BB1C8E18B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851" y="1051561"/>
            <a:ext cx="1508760" cy="15087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2E5D144-AD2E-522B-B06F-B1568C090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51" y="2741225"/>
            <a:ext cx="1508759" cy="150875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F5FEC6-E0C3-5FCF-731A-1AEC7D445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850" y="2737053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506</Words>
  <Application>Microsoft Macintosh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AiPi Strategic IP Plan for SPONIX</dc:title>
  <dc:subject>PptxGenJS Presentation</dc:subject>
  <dc:creator>AiPi Solutions</dc:creator>
  <cp:lastModifiedBy>Cole Morehouse</cp:lastModifiedBy>
  <cp:revision>20</cp:revision>
  <dcterms:created xsi:type="dcterms:W3CDTF">2026-02-06T16:54:07Z</dcterms:created>
  <dcterms:modified xsi:type="dcterms:W3CDTF">2026-04-18T12:32:08Z</dcterms:modified>
</cp:coreProperties>
</file>