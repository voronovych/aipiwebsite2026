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7"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6"/>
    <p:restoredTop sz="94610"/>
  </p:normalViewPr>
  <p:slideViewPr>
    <p:cSldViewPr snapToGrid="0" snapToObjects="1">
      <p:cViewPr varScale="1">
        <p:scale>
          <a:sx n="163" d="100"/>
          <a:sy n="163"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9134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0" name="Shape 0">
            <a:extLst>
              <a:ext uri="{FF2B5EF4-FFF2-40B4-BE49-F238E27FC236}">
                <a16:creationId xmlns:a16="http://schemas.microsoft.com/office/drawing/2014/main" id="{0C000D47-6AFE-30A0-8795-3A13C9EAB00E}"/>
              </a:ext>
            </a:extLst>
          </p:cNvPr>
          <p:cNvSpPr/>
          <p:nvPr/>
        </p:nvSpPr>
        <p:spPr>
          <a:xfrm>
            <a:off x="0" y="0"/>
            <a:ext cx="9144000" cy="54864"/>
          </a:xfrm>
          <a:prstGeom prst="rect">
            <a:avLst/>
          </a:prstGeom>
          <a:solidFill>
            <a:srgbClr val="E8872B"/>
          </a:solidFill>
          <a:ln/>
        </p:spPr>
        <p:txBody>
          <a:bodyPr/>
          <a:lstStyle/>
          <a:p>
            <a:endParaRPr lang="en-US" dirty="0"/>
          </a:p>
        </p:txBody>
      </p:sp>
      <p:sp>
        <p:nvSpPr>
          <p:cNvPr id="21" name="Shape 1">
            <a:extLst>
              <a:ext uri="{FF2B5EF4-FFF2-40B4-BE49-F238E27FC236}">
                <a16:creationId xmlns:a16="http://schemas.microsoft.com/office/drawing/2014/main" id="{D089DBEA-8901-AF48-3A79-40B3C8D264EC}"/>
              </a:ext>
            </a:extLst>
          </p:cNvPr>
          <p:cNvSpPr/>
          <p:nvPr/>
        </p:nvSpPr>
        <p:spPr>
          <a:xfrm>
            <a:off x="640080" y="1280160"/>
            <a:ext cx="54864" cy="2377440"/>
          </a:xfrm>
          <a:prstGeom prst="rect">
            <a:avLst/>
          </a:prstGeom>
          <a:solidFill>
            <a:srgbClr val="E8872B"/>
          </a:solidFill>
          <a:ln/>
        </p:spPr>
        <p:txBody>
          <a:bodyPr/>
          <a:lstStyle/>
          <a:p>
            <a:endParaRPr lang="en-US" dirty="0"/>
          </a:p>
        </p:txBody>
      </p:sp>
      <p:sp>
        <p:nvSpPr>
          <p:cNvPr id="22" name="Text 3">
            <a:extLst>
              <a:ext uri="{FF2B5EF4-FFF2-40B4-BE49-F238E27FC236}">
                <a16:creationId xmlns:a16="http://schemas.microsoft.com/office/drawing/2014/main" id="{6BA23E27-67A9-EDA8-E946-9C16021C9027}"/>
              </a:ext>
            </a:extLst>
          </p:cNvPr>
          <p:cNvSpPr/>
          <p:nvPr/>
        </p:nvSpPr>
        <p:spPr>
          <a:xfrm>
            <a:off x="1005840" y="1463040"/>
            <a:ext cx="6190241" cy="914400"/>
          </a:xfrm>
          <a:prstGeom prst="rect">
            <a:avLst/>
          </a:prstGeom>
          <a:noFill/>
          <a:ln/>
        </p:spPr>
        <p:txBody>
          <a:bodyPr wrap="square" lIns="0" tIns="0" rIns="0" bIns="0" rtlCol="0" anchor="ctr"/>
          <a:lstStyle/>
          <a:p>
            <a:pPr marL="0" indent="0">
              <a:buNone/>
            </a:pPr>
            <a:r>
              <a:rPr lang="en-US" sz="4000" dirty="0">
                <a:solidFill>
                  <a:srgbClr val="FFFFFF"/>
                </a:solidFill>
                <a:latin typeface="Georgia" panose="02040502050405020303" pitchFamily="18" charset="0"/>
                <a:ea typeface="Georgia" pitchFamily="34" charset="-122"/>
                <a:cs typeface="Calibri" panose="020F0502020204030204" pitchFamily="34" charset="0"/>
              </a:rPr>
              <a:t>Accelerating the Value of  Science &amp; Deep Tech</a:t>
            </a:r>
            <a:endParaRPr lang="en-US" sz="4000" dirty="0">
              <a:latin typeface="Georgia" panose="02040502050405020303" pitchFamily="18" charset="0"/>
              <a:cs typeface="Calibri" panose="020F0502020204030204" pitchFamily="34" charset="0"/>
            </a:endParaRPr>
          </a:p>
        </p:txBody>
      </p:sp>
      <p:sp>
        <p:nvSpPr>
          <p:cNvPr id="23" name="Text 4">
            <a:extLst>
              <a:ext uri="{FF2B5EF4-FFF2-40B4-BE49-F238E27FC236}">
                <a16:creationId xmlns:a16="http://schemas.microsoft.com/office/drawing/2014/main" id="{311B6F1C-A905-E030-24E4-8F14DC1EF53C}"/>
              </a:ext>
            </a:extLst>
          </p:cNvPr>
          <p:cNvSpPr/>
          <p:nvPr/>
        </p:nvSpPr>
        <p:spPr>
          <a:xfrm>
            <a:off x="1005840" y="2766061"/>
            <a:ext cx="6400800" cy="548640"/>
          </a:xfrm>
          <a:prstGeom prst="rect">
            <a:avLst/>
          </a:prstGeom>
          <a:noFill/>
          <a:ln/>
        </p:spPr>
        <p:txBody>
          <a:bodyPr wrap="square" lIns="0" tIns="0" rIns="0" bIns="0" rtlCol="0" anchor="ctr"/>
          <a:lstStyle/>
          <a:p>
            <a:r>
              <a:rPr lang="en-US" sz="1600" dirty="0">
                <a:solidFill>
                  <a:srgbClr val="1A7F8E"/>
                </a:solidFill>
                <a:latin typeface="Calibri" pitchFamily="34" charset="0"/>
                <a:cs typeface="Calibri" pitchFamily="34" charset="-120"/>
              </a:rPr>
              <a:t>143 Hills Road, Cambridge, CB2 8RA, UK</a:t>
            </a:r>
            <a:endParaRPr lang="en-US" sz="1600" dirty="0">
              <a:solidFill>
                <a:srgbClr val="1A7F8E"/>
              </a:solidFill>
              <a:latin typeface="Calibri" pitchFamily="34" charset="0"/>
              <a:ea typeface="Calibri" pitchFamily="34" charset="-122"/>
              <a:cs typeface="Calibri" pitchFamily="34" charset="-120"/>
            </a:endParaRPr>
          </a:p>
          <a:p>
            <a:pPr marL="0" indent="0">
              <a:buNone/>
            </a:pPr>
            <a:r>
              <a:rPr lang="en-US" sz="1600" dirty="0">
                <a:solidFill>
                  <a:srgbClr val="1A7F8E"/>
                </a:solidFill>
                <a:latin typeface="Calibri" pitchFamily="34" charset="0"/>
                <a:ea typeface="Calibri" pitchFamily="34" charset="-122"/>
                <a:cs typeface="Calibri" pitchFamily="34" charset="-120"/>
              </a:rPr>
              <a:t>8230 Leesburg Pike, Vienna, VA, 22182, USA </a:t>
            </a:r>
          </a:p>
        </p:txBody>
      </p:sp>
      <p:sp>
        <p:nvSpPr>
          <p:cNvPr id="24" name="Text 5">
            <a:extLst>
              <a:ext uri="{FF2B5EF4-FFF2-40B4-BE49-F238E27FC236}">
                <a16:creationId xmlns:a16="http://schemas.microsoft.com/office/drawing/2014/main" id="{108F4B8B-BABD-2889-FF60-6A4794B6F602}"/>
              </a:ext>
            </a:extLst>
          </p:cNvPr>
          <p:cNvSpPr/>
          <p:nvPr/>
        </p:nvSpPr>
        <p:spPr>
          <a:xfrm>
            <a:off x="1005840" y="3360420"/>
            <a:ext cx="4572000" cy="365760"/>
          </a:xfrm>
          <a:prstGeom prst="rect">
            <a:avLst/>
          </a:prstGeom>
          <a:noFill/>
          <a:ln/>
        </p:spPr>
        <p:txBody>
          <a:bodyPr wrap="square" lIns="0" tIns="0" rIns="0" bIns="0" rtlCol="0" anchor="ctr"/>
          <a:lstStyle/>
          <a:p>
            <a:pPr marL="0" indent="0">
              <a:buNone/>
            </a:pPr>
            <a:r>
              <a:rPr lang="en-US" sz="1100" dirty="0">
                <a:solidFill>
                  <a:srgbClr val="8A9AB5"/>
                </a:solidFill>
                <a:latin typeface="Calibri" pitchFamily="34" charset="0"/>
                <a:ea typeface="Calibri" pitchFamily="34" charset="-122"/>
                <a:cs typeface="Calibri" pitchFamily="34" charset="-120"/>
              </a:rPr>
              <a:t>March 2026</a:t>
            </a:r>
            <a:endParaRPr lang="en-US" sz="1100" dirty="0"/>
          </a:p>
        </p:txBody>
      </p:sp>
      <p:sp>
        <p:nvSpPr>
          <p:cNvPr id="25" name="Shape 6">
            <a:extLst>
              <a:ext uri="{FF2B5EF4-FFF2-40B4-BE49-F238E27FC236}">
                <a16:creationId xmlns:a16="http://schemas.microsoft.com/office/drawing/2014/main" id="{22BF66D7-8745-8413-7EFA-DA5793BDB786}"/>
              </a:ext>
            </a:extLst>
          </p:cNvPr>
          <p:cNvSpPr/>
          <p:nvPr/>
        </p:nvSpPr>
        <p:spPr>
          <a:xfrm>
            <a:off x="0" y="4709160"/>
            <a:ext cx="9144000" cy="434340"/>
          </a:xfrm>
          <a:prstGeom prst="rect">
            <a:avLst/>
          </a:prstGeom>
          <a:solidFill>
            <a:srgbClr val="E8872B"/>
          </a:solidFill>
          <a:ln/>
        </p:spPr>
        <p:txBody>
          <a:bodyPr/>
          <a:lstStyle/>
          <a:p>
            <a:endParaRPr lang="en-US" dirty="0"/>
          </a:p>
        </p:txBody>
      </p:sp>
      <p:sp>
        <p:nvSpPr>
          <p:cNvPr id="26" name="Text 7">
            <a:extLst>
              <a:ext uri="{FF2B5EF4-FFF2-40B4-BE49-F238E27FC236}">
                <a16:creationId xmlns:a16="http://schemas.microsoft.com/office/drawing/2014/main" id="{98BD3987-8ACA-F409-7144-B7BAB3C33430}"/>
              </a:ext>
            </a:extLst>
          </p:cNvPr>
          <p:cNvSpPr/>
          <p:nvPr/>
        </p:nvSpPr>
        <p:spPr>
          <a:xfrm>
            <a:off x="457200" y="4709160"/>
            <a:ext cx="8229600" cy="434340"/>
          </a:xfrm>
          <a:prstGeom prst="rect">
            <a:avLst/>
          </a:prstGeom>
          <a:noFill/>
          <a:ln/>
        </p:spPr>
        <p:txBody>
          <a:bodyPr wrap="square" rtlCol="0" anchor="ctr"/>
          <a:lstStyle/>
          <a:p>
            <a:pPr marL="0" indent="0" algn="ctr">
              <a:buNone/>
            </a:pPr>
            <a:r>
              <a:rPr lang="en-US" b="1" kern="0" spc="400" dirty="0">
                <a:solidFill>
                  <a:srgbClr val="FFFFFF"/>
                </a:solidFill>
                <a:latin typeface="Calibri" pitchFamily="34" charset="0"/>
                <a:ea typeface="Calibri" pitchFamily="34" charset="-122"/>
                <a:cs typeface="Calibri" pitchFamily="34" charset="-120"/>
              </a:rPr>
              <a:t>INNOVATE AND THRIVE</a:t>
            </a:r>
            <a:endParaRPr lang="en-US" dirty="0"/>
          </a:p>
        </p:txBody>
      </p:sp>
      <p:pic>
        <p:nvPicPr>
          <p:cNvPr id="27" name="Picture 26">
            <a:extLst>
              <a:ext uri="{FF2B5EF4-FFF2-40B4-BE49-F238E27FC236}">
                <a16:creationId xmlns:a16="http://schemas.microsoft.com/office/drawing/2014/main" id="{EDE623ED-A170-E829-2524-49E8C25AB41C}"/>
              </a:ext>
            </a:extLst>
          </p:cNvPr>
          <p:cNvPicPr>
            <a:picLocks noChangeAspect="1"/>
          </p:cNvPicPr>
          <p:nvPr/>
        </p:nvPicPr>
        <p:blipFill>
          <a:blip r:embed="rId3"/>
          <a:stretch>
            <a:fillRect/>
          </a:stretch>
        </p:blipFill>
        <p:spPr>
          <a:xfrm>
            <a:off x="7797937" y="320194"/>
            <a:ext cx="888863" cy="694635"/>
          </a:xfrm>
          <a:prstGeom prst="rect">
            <a:avLst/>
          </a:prstGeom>
        </p:spPr>
      </p:pic>
      <p:sp>
        <p:nvSpPr>
          <p:cNvPr id="28" name="Text 3">
            <a:extLst>
              <a:ext uri="{FF2B5EF4-FFF2-40B4-BE49-F238E27FC236}">
                <a16:creationId xmlns:a16="http://schemas.microsoft.com/office/drawing/2014/main" id="{25DD3452-C2AE-0E86-7E90-6EDBE6248DBA}"/>
              </a:ext>
            </a:extLst>
          </p:cNvPr>
          <p:cNvSpPr/>
          <p:nvPr/>
        </p:nvSpPr>
        <p:spPr>
          <a:xfrm>
            <a:off x="7928712" y="1127374"/>
            <a:ext cx="627312" cy="335666"/>
          </a:xfrm>
          <a:prstGeom prst="rect">
            <a:avLst/>
          </a:prstGeom>
          <a:noFill/>
          <a:ln/>
        </p:spPr>
        <p:txBody>
          <a:bodyPr wrap="square" lIns="0" tIns="0" rIns="0" bIns="0" rtlCol="0" anchor="ctr"/>
          <a:lstStyle/>
          <a:p>
            <a:pPr marL="0" indent="0" algn="ctr">
              <a:buNone/>
            </a:pPr>
            <a:r>
              <a:rPr lang="en-US" sz="2400" dirty="0">
                <a:solidFill>
                  <a:srgbClr val="FFFFFF"/>
                </a:solidFill>
                <a:ea typeface="Georgia" pitchFamily="34" charset="-122"/>
                <a:cs typeface="Calibri" panose="020F0502020204030204" pitchFamily="34" charset="0"/>
              </a:rPr>
              <a:t>AIPI</a:t>
            </a:r>
            <a:endParaRPr lang="en-US" sz="2400" dirty="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e Problem">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dirty="0"/>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dirty="0" err="1">
                <a:solidFill>
                  <a:srgbClr val="8A9AB5"/>
                </a:solidFill>
                <a:latin typeface="Calibri" pitchFamily="34" charset="0"/>
              </a:rPr>
              <a:t>AiPi</a:t>
            </a:r>
            <a:r>
              <a:rPr lang="en-US" sz="800" dirty="0">
                <a:solidFill>
                  <a:srgbClr val="8A9AB5"/>
                </a:solidFill>
                <a:latin typeface="Calibri" pitchFamily="34" charset="0"/>
              </a:rPr>
              <a:t> LLC  |  </a:t>
            </a:r>
            <a:r>
              <a:rPr lang="en-US" sz="800" dirty="0" err="1">
                <a:solidFill>
                  <a:srgbClr val="8A9AB5"/>
                </a:solidFill>
                <a:latin typeface="Calibri" pitchFamily="34" charset="0"/>
              </a:rPr>
              <a:t>www.AiPiSolutions.com</a:t>
            </a:r>
            <a:r>
              <a:rPr lang="en-US" sz="800" dirty="0">
                <a:solidFill>
                  <a:srgbClr val="8A9AB5"/>
                </a:solidFill>
                <a:latin typeface="Calibri" pitchFamily="34" charset="0"/>
              </a:rPr>
              <a:t>  |  Confidential</a:t>
            </a:r>
          </a:p>
        </p:txBody>
      </p:sp>
      <p:sp>
        <p:nvSpPr>
          <p:cNvPr id="11" name="SlideTitle"/>
          <p:cNvSpPr/>
          <p:nvPr/>
        </p:nvSpPr>
        <p:spPr>
          <a:xfrm>
            <a:off x="608275" y="347472"/>
            <a:ext cx="7772400" cy="457200"/>
          </a:xfrm>
          <a:prstGeom prst="rect">
            <a:avLst/>
          </a:prstGeom>
          <a:noFill/>
          <a:ln/>
        </p:spPr>
        <p:txBody>
          <a:bodyPr wrap="square" lIns="0" tIns="0" rIns="0" bIns="0" rtlCol="0" anchor="ctr"/>
          <a:lstStyle/>
          <a:p>
            <a:r>
              <a:rPr lang="en-US" b="1" dirty="0">
                <a:solidFill>
                  <a:srgbClr val="0B1D3A"/>
                </a:solidFill>
                <a:latin typeface="Georgia" pitchFamily="34" charset="0"/>
              </a:rPr>
              <a:t>The Problem: Too Much IP Is Undervalued &amp; Underexploited</a:t>
            </a:r>
          </a:p>
        </p:txBody>
      </p:sp>
      <p:sp>
        <p:nvSpPr>
          <p:cNvPr id="12" name="OrangeAccent"/>
          <p:cNvSpPr/>
          <p:nvPr/>
        </p:nvSpPr>
        <p:spPr>
          <a:xfrm>
            <a:off x="640080" y="804672"/>
            <a:ext cx="1097280" cy="36576"/>
          </a:xfrm>
          <a:prstGeom prst="rect">
            <a:avLst/>
          </a:prstGeom>
          <a:solidFill>
            <a:srgbClr val="E8872B"/>
          </a:solidFill>
          <a:ln/>
        </p:spPr>
        <p:txBody>
          <a:bodyPr/>
          <a:lstStyle/>
          <a:p>
            <a:endParaRPr lang="en-US"/>
          </a:p>
        </p:txBody>
      </p:sp>
      <p:sp>
        <p:nvSpPr>
          <p:cNvPr id="13" name="Subtitle"/>
          <p:cNvSpPr/>
          <p:nvPr/>
        </p:nvSpPr>
        <p:spPr>
          <a:xfrm>
            <a:off x="640080" y="880000"/>
            <a:ext cx="7863840" cy="330000"/>
          </a:xfrm>
          <a:prstGeom prst="rect">
            <a:avLst/>
          </a:prstGeom>
          <a:noFill/>
          <a:ln/>
        </p:spPr>
        <p:txBody>
          <a:bodyPr wrap="square" lIns="0" tIns="0" rIns="0" bIns="0" rtlCol="0" anchor="ctr"/>
          <a:lstStyle/>
          <a:p>
            <a:r>
              <a:rPr lang="en-US" sz="1100" i="1">
                <a:solidFill>
                  <a:srgbClr val="007282"/>
                </a:solidFill>
                <a:latin typeface="Calibri" pitchFamily="34" charset="0"/>
              </a:rPr>
              <a:t>Owning a patent doesn’t guarantee receiving value from it. Most IP owners face three critical gaps (the IP dilemma):</a:t>
            </a:r>
          </a:p>
        </p:txBody>
      </p:sp>
      <p:sp>
        <p:nvSpPr>
          <p:cNvPr id="20" name="Card1BG"/>
          <p:cNvSpPr/>
          <p:nvPr/>
        </p:nvSpPr>
        <p:spPr>
          <a:xfrm>
            <a:off x="640080" y="1310000"/>
            <a:ext cx="2438400" cy="3200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Card1Accent"/>
          <p:cNvSpPr/>
          <p:nvPr/>
        </p:nvSpPr>
        <p:spPr>
          <a:xfrm>
            <a:off x="640080" y="1310000"/>
            <a:ext cx="45720" cy="3200000"/>
          </a:xfrm>
          <a:prstGeom prst="rect">
            <a:avLst/>
          </a:prstGeom>
          <a:solidFill>
            <a:srgbClr val="1A7F8E"/>
          </a:solidFill>
          <a:ln/>
        </p:spPr>
        <p:txBody>
          <a:bodyPr/>
          <a:lstStyle/>
          <a:p>
            <a:endParaRPr lang="en-US"/>
          </a:p>
        </p:txBody>
      </p:sp>
      <p:sp>
        <p:nvSpPr>
          <p:cNvPr id="22" name="Card1Head"/>
          <p:cNvSpPr/>
          <p:nvPr/>
        </p:nvSpPr>
        <p:spPr>
          <a:xfrm>
            <a:off x="750000" y="1380000"/>
            <a:ext cx="2228400" cy="240000"/>
          </a:xfrm>
          <a:prstGeom prst="rect">
            <a:avLst/>
          </a:prstGeom>
          <a:noFill/>
          <a:ln/>
        </p:spPr>
        <p:txBody>
          <a:bodyPr wrap="square" lIns="0" tIns="0" rIns="0" bIns="0" rtlCol="0" anchor="ctr"/>
          <a:lstStyle/>
          <a:p>
            <a:r>
              <a:rPr lang="en-US" sz="1100" b="1">
                <a:solidFill>
                  <a:srgbClr val="0B1D3A"/>
                </a:solidFill>
                <a:latin typeface="Calibri" pitchFamily="34" charset="0"/>
              </a:rPr>
              <a:t>No IP Landscape Visibility</a:t>
            </a:r>
          </a:p>
        </p:txBody>
      </p:sp>
      <p:sp>
        <p:nvSpPr>
          <p:cNvPr id="23" name="Card1Body"/>
          <p:cNvSpPr/>
          <p:nvPr/>
        </p:nvSpPr>
        <p:spPr>
          <a:xfrm>
            <a:off x="750000" y="1660000"/>
            <a:ext cx="2270000" cy="2800000"/>
          </a:xfrm>
          <a:prstGeom prst="rect">
            <a:avLst/>
          </a:prstGeom>
          <a:noFill/>
          <a:ln/>
        </p:spPr>
        <p:txBody>
          <a:bodyPr wrap="square" lIns="0" tIns="0" rIns="0" bIns="0" rtlCol="0" anchor="t"/>
          <a:lstStyle/>
          <a:p>
            <a:pPr>
              <a:lnSpc>
                <a:spcPct val="140000"/>
              </a:lnSpc>
              <a:spcAft>
                <a:spcPts val="1200"/>
              </a:spcAft>
            </a:pPr>
            <a:r>
              <a:rPr lang="en-US" sz="900" dirty="0">
                <a:solidFill>
                  <a:srgbClr val="3A4A5C"/>
                </a:solidFill>
                <a:latin typeface="Calibri" pitchFamily="34" charset="0"/>
              </a:rPr>
              <a:t>Despite the world-leading innovation created in the science &amp; technology communities, too much of it remains poorly understood and inconsistently exploited.</a:t>
            </a:r>
          </a:p>
          <a:p>
            <a:pPr>
              <a:lnSpc>
                <a:spcPct val="140000"/>
              </a:lnSpc>
              <a:spcAft>
                <a:spcPts val="1200"/>
              </a:spcAft>
            </a:pPr>
            <a:r>
              <a:rPr lang="en-US" sz="900" dirty="0">
                <a:solidFill>
                  <a:srgbClr val="3A4A5C"/>
                </a:solidFill>
                <a:latin typeface="Calibri" pitchFamily="34" charset="0"/>
              </a:rPr>
              <a:t>Most creators and owners don’t know how their IP relate to other granted and pending patents. They cannot identify where they are exposed, where gaps exist, or how defensible their IP is.</a:t>
            </a:r>
          </a:p>
          <a:p>
            <a:pPr>
              <a:lnSpc>
                <a:spcPct val="140000"/>
              </a:lnSpc>
            </a:pPr>
            <a:r>
              <a:rPr lang="en-US" sz="900" dirty="0">
                <a:solidFill>
                  <a:srgbClr val="3A4A5C"/>
                </a:solidFill>
                <a:latin typeface="Calibri" pitchFamily="34" charset="0"/>
              </a:rPr>
              <a:t>Hence investment decisions and licensing negotiations are made in the dark.</a:t>
            </a:r>
          </a:p>
        </p:txBody>
      </p:sp>
      <p:sp>
        <p:nvSpPr>
          <p:cNvPr id="30" name="Card2BG"/>
          <p:cNvSpPr/>
          <p:nvPr/>
        </p:nvSpPr>
        <p:spPr>
          <a:xfrm>
            <a:off x="3352800" y="1310000"/>
            <a:ext cx="2438400" cy="3200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1" name="Card2Accent"/>
          <p:cNvSpPr/>
          <p:nvPr/>
        </p:nvSpPr>
        <p:spPr>
          <a:xfrm>
            <a:off x="3352800" y="1310000"/>
            <a:ext cx="45720" cy="3200000"/>
          </a:xfrm>
          <a:prstGeom prst="rect">
            <a:avLst/>
          </a:prstGeom>
          <a:solidFill>
            <a:srgbClr val="E8872B"/>
          </a:solidFill>
          <a:ln/>
        </p:spPr>
        <p:txBody>
          <a:bodyPr/>
          <a:lstStyle/>
          <a:p>
            <a:endParaRPr lang="en-US"/>
          </a:p>
        </p:txBody>
      </p:sp>
      <p:sp>
        <p:nvSpPr>
          <p:cNvPr id="32" name="Card2Head"/>
          <p:cNvSpPr/>
          <p:nvPr/>
        </p:nvSpPr>
        <p:spPr>
          <a:xfrm>
            <a:off x="3462800" y="1380000"/>
            <a:ext cx="2228400" cy="240000"/>
          </a:xfrm>
          <a:prstGeom prst="rect">
            <a:avLst/>
          </a:prstGeom>
          <a:noFill/>
          <a:ln/>
        </p:spPr>
        <p:txBody>
          <a:bodyPr wrap="square" lIns="0" tIns="0" rIns="0" bIns="0" rtlCol="0" anchor="ctr"/>
          <a:lstStyle/>
          <a:p>
            <a:r>
              <a:rPr lang="en-US" sz="1100" b="1">
                <a:solidFill>
                  <a:srgbClr val="0B1D3A"/>
                </a:solidFill>
                <a:latin typeface="Calibri" pitchFamily="34" charset="0"/>
              </a:rPr>
              <a:t>No IP </a:t>
            </a:r>
            <a:r>
              <a:rPr lang="en-US" sz="1100" b="1" err="1">
                <a:solidFill>
                  <a:srgbClr val="0B1D3A"/>
                </a:solidFill>
                <a:latin typeface="Calibri" pitchFamily="34" charset="0"/>
              </a:rPr>
              <a:t>Commercialisation</a:t>
            </a:r>
            <a:r>
              <a:rPr lang="en-US" sz="1100" b="1">
                <a:solidFill>
                  <a:srgbClr val="0B1D3A"/>
                </a:solidFill>
                <a:latin typeface="Calibri" pitchFamily="34" charset="0"/>
              </a:rPr>
              <a:t> Map</a:t>
            </a:r>
          </a:p>
        </p:txBody>
      </p:sp>
      <p:sp>
        <p:nvSpPr>
          <p:cNvPr id="33" name="Card2Body"/>
          <p:cNvSpPr/>
          <p:nvPr/>
        </p:nvSpPr>
        <p:spPr>
          <a:xfrm>
            <a:off x="3462800" y="1660000"/>
            <a:ext cx="2270000" cy="2800000"/>
          </a:xfrm>
          <a:prstGeom prst="rect">
            <a:avLst/>
          </a:prstGeom>
          <a:noFill/>
          <a:ln/>
        </p:spPr>
        <p:txBody>
          <a:bodyPr wrap="square" lIns="0" tIns="0" rIns="0" bIns="0" rtlCol="0" anchor="t"/>
          <a:lstStyle/>
          <a:p>
            <a:pPr>
              <a:lnSpc>
                <a:spcPct val="140000"/>
              </a:lnSpc>
            </a:pPr>
            <a:r>
              <a:rPr lang="en-US" sz="900">
                <a:solidFill>
                  <a:srgbClr val="3A4A5C"/>
                </a:solidFill>
                <a:latin typeface="Calibri" pitchFamily="34" charset="0"/>
              </a:rPr>
              <a:t>Even where IP is strong, owners rarely have a systematic view of which applications it can enable and what revenue potential those have.</a:t>
            </a:r>
          </a:p>
          <a:p>
            <a:pPr>
              <a:lnSpc>
                <a:spcPct val="140000"/>
              </a:lnSpc>
            </a:pPr>
            <a:endParaRPr lang="en-US" sz="900">
              <a:solidFill>
                <a:srgbClr val="3A4A5C"/>
              </a:solidFill>
              <a:latin typeface="Calibri" pitchFamily="34" charset="0"/>
            </a:endParaRPr>
          </a:p>
          <a:p>
            <a:pPr>
              <a:lnSpc>
                <a:spcPct val="140000"/>
              </a:lnSpc>
            </a:pPr>
            <a:r>
              <a:rPr lang="en-US" sz="900">
                <a:solidFill>
                  <a:srgbClr val="3A4A5C"/>
                </a:solidFill>
                <a:latin typeface="Calibri" pitchFamily="34" charset="0"/>
              </a:rPr>
              <a:t>Nor what competing solutions exist, or how much value potential applications could create against that </a:t>
            </a:r>
            <a:r>
              <a:rPr lang="en-US" sz="900" err="1">
                <a:solidFill>
                  <a:srgbClr val="3A4A5C"/>
                </a:solidFill>
                <a:latin typeface="Calibri" pitchFamily="34" charset="0"/>
              </a:rPr>
              <a:t>compettion</a:t>
            </a:r>
            <a:r>
              <a:rPr lang="en-US" sz="900">
                <a:solidFill>
                  <a:srgbClr val="3A4A5C"/>
                </a:solidFill>
                <a:latin typeface="Calibri" pitchFamily="34" charset="0"/>
              </a:rPr>
              <a:t>.</a:t>
            </a:r>
          </a:p>
          <a:p>
            <a:pPr>
              <a:lnSpc>
                <a:spcPct val="140000"/>
              </a:lnSpc>
              <a:spcBef>
                <a:spcPts val="1400"/>
              </a:spcBef>
            </a:pPr>
            <a:r>
              <a:rPr lang="en-US" sz="900">
                <a:solidFill>
                  <a:srgbClr val="3A4A5C"/>
                </a:solidFill>
                <a:latin typeface="Calibri" pitchFamily="34" charset="0"/>
              </a:rPr>
              <a:t>Hence missed licensing or business creation opportunities and stalled commercialisation.</a:t>
            </a:r>
          </a:p>
        </p:txBody>
      </p:sp>
      <p:sp>
        <p:nvSpPr>
          <p:cNvPr id="40" name="Card3BG"/>
          <p:cNvSpPr/>
          <p:nvPr/>
        </p:nvSpPr>
        <p:spPr>
          <a:xfrm>
            <a:off x="6065520" y="1310000"/>
            <a:ext cx="2438400" cy="3200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1" name="Card3Accent"/>
          <p:cNvSpPr/>
          <p:nvPr/>
        </p:nvSpPr>
        <p:spPr>
          <a:xfrm>
            <a:off x="6065520" y="1310000"/>
            <a:ext cx="45720" cy="3200000"/>
          </a:xfrm>
          <a:prstGeom prst="rect">
            <a:avLst/>
          </a:prstGeom>
          <a:solidFill>
            <a:srgbClr val="0B1D3A"/>
          </a:solidFill>
          <a:ln/>
        </p:spPr>
        <p:txBody>
          <a:bodyPr/>
          <a:lstStyle/>
          <a:p>
            <a:endParaRPr lang="en-US"/>
          </a:p>
        </p:txBody>
      </p:sp>
      <p:sp>
        <p:nvSpPr>
          <p:cNvPr id="42" name="Card3Head"/>
          <p:cNvSpPr/>
          <p:nvPr/>
        </p:nvSpPr>
        <p:spPr>
          <a:xfrm>
            <a:off x="6175520" y="1380000"/>
            <a:ext cx="2228400" cy="240000"/>
          </a:xfrm>
          <a:prstGeom prst="rect">
            <a:avLst/>
          </a:prstGeom>
          <a:noFill/>
          <a:ln/>
        </p:spPr>
        <p:txBody>
          <a:bodyPr wrap="square" lIns="0" tIns="0" rIns="0" bIns="0" rtlCol="0" anchor="ctr"/>
          <a:lstStyle/>
          <a:p>
            <a:r>
              <a:rPr lang="en-US" sz="1100" b="1">
                <a:solidFill>
                  <a:srgbClr val="0B1D3A"/>
                </a:solidFill>
                <a:latin typeface="Calibri" pitchFamily="34" charset="0"/>
              </a:rPr>
              <a:t>No IP Strategy</a:t>
            </a:r>
          </a:p>
        </p:txBody>
      </p:sp>
      <p:sp>
        <p:nvSpPr>
          <p:cNvPr id="43" name="Card3Body"/>
          <p:cNvSpPr/>
          <p:nvPr/>
        </p:nvSpPr>
        <p:spPr>
          <a:xfrm>
            <a:off x="6175520" y="1660000"/>
            <a:ext cx="2270000" cy="2800000"/>
          </a:xfrm>
          <a:prstGeom prst="rect">
            <a:avLst/>
          </a:prstGeom>
          <a:noFill/>
          <a:ln/>
        </p:spPr>
        <p:txBody>
          <a:bodyPr wrap="square" lIns="0" tIns="0" rIns="0" bIns="0" rtlCol="0" anchor="t"/>
          <a:lstStyle/>
          <a:p>
            <a:pPr>
              <a:lnSpc>
                <a:spcPct val="140000"/>
              </a:lnSpc>
            </a:pPr>
            <a:r>
              <a:rPr lang="en-US" sz="900">
                <a:solidFill>
                  <a:srgbClr val="3A4A5C"/>
                </a:solidFill>
                <a:latin typeface="Calibri" pitchFamily="34" charset="0"/>
              </a:rPr>
              <a:t>Without a understanding of the IP landscape and viable commercial routes, IP creators and owners cannot make confident decisions about portfolio development, licensing strategy or R&amp;D and IP investment priorities.</a:t>
            </a:r>
          </a:p>
          <a:p>
            <a:pPr>
              <a:lnSpc>
                <a:spcPct val="140000"/>
              </a:lnSpc>
              <a:spcBef>
                <a:spcPts val="1400"/>
              </a:spcBef>
            </a:pPr>
            <a:r>
              <a:rPr lang="en-US" sz="900">
                <a:solidFill>
                  <a:srgbClr val="3A4A5C"/>
                </a:solidFill>
                <a:latin typeface="Calibri" pitchFamily="34" charset="0"/>
              </a:rPr>
              <a:t>Hence the real risk that valuable IP sits idle while investment is made in IP that is uncompetitive or is focused on the wrong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Our Solution">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rPr>
              <a:t>AiPi LLC  |  www.AiPiSolutions.com  |  Confidential</a:t>
            </a:r>
          </a:p>
        </p:txBody>
      </p:sp>
      <p:sp>
        <p:nvSpPr>
          <p:cNvPr id="11" name="SlideTitle"/>
          <p:cNvSpPr/>
          <p:nvPr/>
        </p:nvSpPr>
        <p:spPr>
          <a:xfrm>
            <a:off x="608275" y="347472"/>
            <a:ext cx="7772400" cy="457200"/>
          </a:xfrm>
          <a:prstGeom prst="rect">
            <a:avLst/>
          </a:prstGeom>
          <a:noFill/>
          <a:ln/>
        </p:spPr>
        <p:txBody>
          <a:bodyPr wrap="square" lIns="0" tIns="0" rIns="0" bIns="0" rtlCol="0" anchor="ctr"/>
          <a:lstStyle/>
          <a:p>
            <a:r>
              <a:rPr lang="en-US" b="1">
                <a:solidFill>
                  <a:srgbClr val="0B1D3A"/>
                </a:solidFill>
                <a:latin typeface="Georgia" pitchFamily="34" charset="0"/>
              </a:rPr>
              <a:t>What AiPi Delivers: Two Distinct Solutions to the IP dilemma</a:t>
            </a:r>
          </a:p>
        </p:txBody>
      </p:sp>
      <p:sp>
        <p:nvSpPr>
          <p:cNvPr id="12" name="OrangeAccent"/>
          <p:cNvSpPr/>
          <p:nvPr/>
        </p:nvSpPr>
        <p:spPr>
          <a:xfrm>
            <a:off x="640080" y="804672"/>
            <a:ext cx="1097280" cy="36576"/>
          </a:xfrm>
          <a:prstGeom prst="rect">
            <a:avLst/>
          </a:prstGeom>
          <a:solidFill>
            <a:srgbClr val="E8872B"/>
          </a:solidFill>
          <a:ln/>
        </p:spPr>
        <p:txBody>
          <a:bodyPr/>
          <a:lstStyle/>
          <a:p>
            <a:endParaRPr lang="en-US"/>
          </a:p>
        </p:txBody>
      </p:sp>
      <p:sp>
        <p:nvSpPr>
          <p:cNvPr id="13" name="Subtitle"/>
          <p:cNvSpPr/>
          <p:nvPr/>
        </p:nvSpPr>
        <p:spPr>
          <a:xfrm>
            <a:off x="640080" y="880000"/>
            <a:ext cx="7863840" cy="330000"/>
          </a:xfrm>
          <a:prstGeom prst="rect">
            <a:avLst/>
          </a:prstGeom>
          <a:noFill/>
          <a:ln/>
        </p:spPr>
        <p:txBody>
          <a:bodyPr wrap="square" lIns="0" tIns="0" rIns="0" bIns="0" rtlCol="0" anchor="ctr"/>
          <a:lstStyle/>
          <a:p>
            <a:r>
              <a:rPr lang="en-US" sz="1100" i="1">
                <a:solidFill>
                  <a:srgbClr val="007282"/>
                </a:solidFill>
                <a:latin typeface="Calibri" pitchFamily="34" charset="0"/>
              </a:rPr>
              <a:t>AiPi’s proprietary AI platform produces two structured outputs that transform raw IP into actionable intelligence</a:t>
            </a:r>
            <a:r>
              <a:rPr lang="en-US" sz="1100" i="1">
                <a:solidFill>
                  <a:srgbClr val="8A9AB5"/>
                </a:solidFill>
                <a:latin typeface="Calibri" pitchFamily="34" charset="0"/>
              </a:rPr>
              <a:t>.</a:t>
            </a:r>
          </a:p>
        </p:txBody>
      </p:sp>
      <p:sp>
        <p:nvSpPr>
          <p:cNvPr id="20" name="Card1BG"/>
          <p:cNvSpPr/>
          <p:nvPr/>
        </p:nvSpPr>
        <p:spPr>
          <a:xfrm>
            <a:off x="640080" y="1300000"/>
            <a:ext cx="3810000" cy="3250000"/>
          </a:xfrm>
          <a:prstGeom prst="rect">
            <a:avLst/>
          </a:prstGeom>
          <a:solidFill>
            <a:srgbClr val="0B1D3A"/>
          </a:solidFill>
          <a:ln/>
          <a:effectLst>
            <a:outerShdw blurRad="101600" dist="38100" dir="8100000" algn="bl" rotWithShape="0">
              <a:srgbClr val="000000">
                <a:alpha val="20000"/>
              </a:srgbClr>
            </a:outerShdw>
          </a:effectLst>
        </p:spPr>
        <p:txBody>
          <a:bodyPr/>
          <a:lstStyle/>
          <a:p>
            <a:endParaRPr lang="en-US"/>
          </a:p>
        </p:txBody>
      </p:sp>
      <p:sp>
        <p:nvSpPr>
          <p:cNvPr id="21" name="Card1TopBar"/>
          <p:cNvSpPr/>
          <p:nvPr/>
        </p:nvSpPr>
        <p:spPr>
          <a:xfrm>
            <a:off x="640080" y="1300000"/>
            <a:ext cx="3810000" cy="60960"/>
          </a:xfrm>
          <a:prstGeom prst="rect">
            <a:avLst/>
          </a:prstGeom>
          <a:solidFill>
            <a:srgbClr val="1A7F8E"/>
          </a:solidFill>
          <a:ln/>
        </p:spPr>
        <p:txBody>
          <a:bodyPr/>
          <a:lstStyle/>
          <a:p>
            <a:endParaRPr lang="en-US"/>
          </a:p>
        </p:txBody>
      </p:sp>
      <p:sp>
        <p:nvSpPr>
          <p:cNvPr id="22" name="Card1Label"/>
          <p:cNvSpPr/>
          <p:nvPr/>
        </p:nvSpPr>
        <p:spPr>
          <a:xfrm>
            <a:off x="730000" y="1390000"/>
            <a:ext cx="3600000" cy="220000"/>
          </a:xfrm>
          <a:prstGeom prst="rect">
            <a:avLst/>
          </a:prstGeom>
          <a:noFill/>
          <a:ln/>
        </p:spPr>
        <p:txBody>
          <a:bodyPr wrap="square" lIns="0" tIns="0" rIns="0" bIns="0" rtlCol="0" anchor="ctr"/>
          <a:lstStyle/>
          <a:p>
            <a:r>
              <a:rPr lang="en-US" sz="800" b="1">
                <a:solidFill>
                  <a:srgbClr val="1A7F8E"/>
                </a:solidFill>
                <a:latin typeface="Calibri" pitchFamily="34" charset="0"/>
              </a:rPr>
              <a:t>SOLUTION  ONE</a:t>
            </a:r>
          </a:p>
        </p:txBody>
      </p:sp>
      <p:sp>
        <p:nvSpPr>
          <p:cNvPr id="23" name="Card1Head"/>
          <p:cNvSpPr/>
          <p:nvPr/>
        </p:nvSpPr>
        <p:spPr>
          <a:xfrm>
            <a:off x="730000" y="1630000"/>
            <a:ext cx="3600000" cy="290000"/>
          </a:xfrm>
          <a:prstGeom prst="rect">
            <a:avLst/>
          </a:prstGeom>
          <a:noFill/>
          <a:ln/>
        </p:spPr>
        <p:txBody>
          <a:bodyPr wrap="square" lIns="0" tIns="0" rIns="0" bIns="0" rtlCol="0" anchor="ctr"/>
          <a:lstStyle/>
          <a:p>
            <a:r>
              <a:rPr lang="en-US" sz="1600" b="1">
                <a:solidFill>
                  <a:srgbClr val="FFFFFF"/>
                </a:solidFill>
                <a:latin typeface="Georgia" pitchFamily="34" charset="0"/>
              </a:rPr>
              <a:t>Patent Landscaping</a:t>
            </a:r>
          </a:p>
        </p:txBody>
      </p:sp>
      <p:sp>
        <p:nvSpPr>
          <p:cNvPr id="24" name="Card1Body"/>
          <p:cNvSpPr/>
          <p:nvPr/>
        </p:nvSpPr>
        <p:spPr>
          <a:xfrm>
            <a:off x="730000" y="1980000"/>
            <a:ext cx="3600000" cy="2500000"/>
          </a:xfrm>
          <a:prstGeom prst="rect">
            <a:avLst/>
          </a:prstGeom>
          <a:noFill/>
          <a:ln/>
        </p:spPr>
        <p:txBody>
          <a:bodyPr wrap="square" lIns="0" tIns="0" rIns="0" bIns="0" rtlCol="0" anchor="t"/>
          <a:lstStyle/>
          <a:p>
            <a:pPr>
              <a:lnSpc>
                <a:spcPct val="140000"/>
              </a:lnSpc>
            </a:pPr>
            <a:r>
              <a:rPr lang="en-US" sz="950">
                <a:solidFill>
                  <a:srgbClr val="CADCFC"/>
                </a:solidFill>
                <a:latin typeface="Calibri" pitchFamily="34" charset="0"/>
              </a:rPr>
              <a:t>A structured map of how a client’s granted or pending IP sits within the existing patent landscape — showing where it overlaps with competitor filings, where adjacent gaps exist, and what IP territory remains available.</a:t>
            </a:r>
          </a:p>
          <a:p>
            <a:pPr>
              <a:lnSpc>
                <a:spcPct val="140000"/>
              </a:lnSpc>
              <a:spcBef>
                <a:spcPts val="1400"/>
              </a:spcBef>
            </a:pPr>
            <a:r>
              <a:rPr lang="en-US" sz="950" b="1">
                <a:solidFill>
                  <a:srgbClr val="FFFFFF"/>
                </a:solidFill>
                <a:latin typeface="Calibri" pitchFamily="34" charset="0"/>
              </a:rPr>
              <a:t>The client gains:</a:t>
            </a:r>
          </a:p>
          <a:p>
            <a:pPr marL="171450" indent="-171450">
              <a:lnSpc>
                <a:spcPct val="130000"/>
              </a:lnSpc>
              <a:buFont typeface="Arial" pitchFamily="34" charset="0"/>
              <a:buChar char="•"/>
            </a:pPr>
            <a:r>
              <a:rPr lang="en-US" sz="900">
                <a:solidFill>
                  <a:srgbClr val="CADCFC"/>
                </a:solidFill>
                <a:latin typeface="Calibri" pitchFamily="34" charset="0"/>
              </a:rPr>
              <a:t>Clear view of IP defensibility</a:t>
            </a:r>
          </a:p>
          <a:p>
            <a:pPr marL="171450" indent="-171450">
              <a:lnSpc>
                <a:spcPct val="130000"/>
              </a:lnSpc>
              <a:buFont typeface="Arial" pitchFamily="34" charset="0"/>
              <a:buChar char="•"/>
            </a:pPr>
            <a:r>
              <a:rPr lang="en-US" sz="900">
                <a:solidFill>
                  <a:srgbClr val="CADCFC"/>
                </a:solidFill>
                <a:latin typeface="Calibri" pitchFamily="34" charset="0"/>
              </a:rPr>
              <a:t>Identification of gap opportunities for portfolio expansion</a:t>
            </a:r>
          </a:p>
          <a:p>
            <a:pPr marL="171450" indent="-171450">
              <a:lnSpc>
                <a:spcPct val="130000"/>
              </a:lnSpc>
              <a:buFont typeface="Arial" pitchFamily="34" charset="0"/>
              <a:buChar char="•"/>
            </a:pPr>
            <a:r>
              <a:rPr lang="en-US" sz="900">
                <a:solidFill>
                  <a:srgbClr val="CADCFC"/>
                </a:solidFill>
                <a:latin typeface="Calibri" pitchFamily="34" charset="0"/>
              </a:rPr>
              <a:t>Evidence base for investment and licensing negotiations</a:t>
            </a:r>
          </a:p>
        </p:txBody>
      </p:sp>
      <p:sp>
        <p:nvSpPr>
          <p:cNvPr id="30" name="Card2BG"/>
          <p:cNvSpPr/>
          <p:nvPr/>
        </p:nvSpPr>
        <p:spPr>
          <a:xfrm>
            <a:off x="4694000" y="1300000"/>
            <a:ext cx="3810000" cy="3250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1" name="Card2TopBar"/>
          <p:cNvSpPr/>
          <p:nvPr/>
        </p:nvSpPr>
        <p:spPr>
          <a:xfrm>
            <a:off x="4694000" y="1300000"/>
            <a:ext cx="3810000" cy="60960"/>
          </a:xfrm>
          <a:prstGeom prst="rect">
            <a:avLst/>
          </a:prstGeom>
          <a:solidFill>
            <a:srgbClr val="E8872B"/>
          </a:solidFill>
          <a:ln/>
        </p:spPr>
        <p:txBody>
          <a:bodyPr/>
          <a:lstStyle/>
          <a:p>
            <a:endParaRPr lang="en-US"/>
          </a:p>
        </p:txBody>
      </p:sp>
      <p:sp>
        <p:nvSpPr>
          <p:cNvPr id="32" name="Card2Label"/>
          <p:cNvSpPr/>
          <p:nvPr/>
        </p:nvSpPr>
        <p:spPr>
          <a:xfrm>
            <a:off x="4784000" y="1390000"/>
            <a:ext cx="3600000" cy="220000"/>
          </a:xfrm>
          <a:prstGeom prst="rect">
            <a:avLst/>
          </a:prstGeom>
          <a:noFill/>
          <a:ln/>
        </p:spPr>
        <p:txBody>
          <a:bodyPr wrap="square" lIns="0" tIns="0" rIns="0" bIns="0" rtlCol="0" anchor="ctr"/>
          <a:lstStyle/>
          <a:p>
            <a:r>
              <a:rPr lang="en-US" sz="800" b="1">
                <a:solidFill>
                  <a:srgbClr val="E8872B"/>
                </a:solidFill>
                <a:latin typeface="Calibri" pitchFamily="34" charset="0"/>
              </a:rPr>
              <a:t>SOLUTION TWO</a:t>
            </a:r>
          </a:p>
        </p:txBody>
      </p:sp>
      <p:sp>
        <p:nvSpPr>
          <p:cNvPr id="33" name="Card2Head"/>
          <p:cNvSpPr/>
          <p:nvPr/>
        </p:nvSpPr>
        <p:spPr>
          <a:xfrm>
            <a:off x="4784000" y="1630000"/>
            <a:ext cx="3600000" cy="290000"/>
          </a:xfrm>
          <a:prstGeom prst="rect">
            <a:avLst/>
          </a:prstGeom>
          <a:noFill/>
          <a:ln/>
        </p:spPr>
        <p:txBody>
          <a:bodyPr wrap="square" lIns="0" tIns="0" rIns="0" bIns="0" rtlCol="0" anchor="ctr"/>
          <a:lstStyle/>
          <a:p>
            <a:r>
              <a:rPr lang="en-US" sz="1600" b="1">
                <a:solidFill>
                  <a:srgbClr val="0B1D3A"/>
                </a:solidFill>
                <a:latin typeface="Georgia" pitchFamily="34" charset="0"/>
              </a:rPr>
              <a:t>Commercialisation Landscaping</a:t>
            </a:r>
          </a:p>
        </p:txBody>
      </p:sp>
      <p:sp>
        <p:nvSpPr>
          <p:cNvPr id="34" name="Card2Body"/>
          <p:cNvSpPr/>
          <p:nvPr/>
        </p:nvSpPr>
        <p:spPr>
          <a:xfrm>
            <a:off x="4784000" y="1980000"/>
            <a:ext cx="3600000" cy="2500000"/>
          </a:xfrm>
          <a:prstGeom prst="rect">
            <a:avLst/>
          </a:prstGeom>
          <a:noFill/>
          <a:ln/>
        </p:spPr>
        <p:txBody>
          <a:bodyPr wrap="square" lIns="0" tIns="0" rIns="0" bIns="0" rtlCol="0" anchor="t"/>
          <a:lstStyle/>
          <a:p>
            <a:pPr>
              <a:lnSpc>
                <a:spcPct val="140000"/>
              </a:lnSpc>
            </a:pPr>
            <a:r>
              <a:rPr lang="en-US" sz="950">
                <a:solidFill>
                  <a:srgbClr val="3A4A5C"/>
                </a:solidFill>
                <a:latin typeface="Calibri" pitchFamily="34" charset="0"/>
              </a:rPr>
              <a:t>A commercial analysis that identifies potential applications of the IP, mapping these against existing competing solutions, and estimating the value that could be created by exploiting each potential application and its best route to market.</a:t>
            </a:r>
          </a:p>
          <a:p>
            <a:pPr>
              <a:lnSpc>
                <a:spcPct val="140000"/>
              </a:lnSpc>
              <a:spcBef>
                <a:spcPts val="1400"/>
              </a:spcBef>
            </a:pPr>
            <a:r>
              <a:rPr lang="en-US" sz="950" b="1">
                <a:solidFill>
                  <a:srgbClr val="0B1D3A"/>
                </a:solidFill>
                <a:latin typeface="Calibri" pitchFamily="34" charset="0"/>
              </a:rPr>
              <a:t>The client gains:</a:t>
            </a:r>
          </a:p>
          <a:p>
            <a:pPr marL="171450" indent="-171450">
              <a:lnSpc>
                <a:spcPct val="130000"/>
              </a:lnSpc>
              <a:buFont typeface="Arial" pitchFamily="34" charset="0"/>
              <a:buChar char="•"/>
            </a:pPr>
            <a:r>
              <a:rPr lang="en-US" sz="900">
                <a:solidFill>
                  <a:srgbClr val="3A4A5C"/>
                </a:solidFill>
                <a:latin typeface="Calibri" pitchFamily="34" charset="0"/>
              </a:rPr>
              <a:t>Prioritised list of commercial applications</a:t>
            </a:r>
          </a:p>
          <a:p>
            <a:pPr marL="171450" indent="-171450">
              <a:lnSpc>
                <a:spcPct val="130000"/>
              </a:lnSpc>
              <a:buFont typeface="Arial" pitchFamily="34" charset="0"/>
              <a:buChar char="•"/>
            </a:pPr>
            <a:r>
              <a:rPr lang="en-US" sz="900">
                <a:solidFill>
                  <a:srgbClr val="3A4A5C"/>
                </a:solidFill>
                <a:latin typeface="Calibri" pitchFamily="34" charset="0"/>
              </a:rPr>
              <a:t>Comparative assessment against alternative solutions</a:t>
            </a:r>
          </a:p>
          <a:p>
            <a:pPr marL="171450" indent="-171450">
              <a:lnSpc>
                <a:spcPct val="130000"/>
              </a:lnSpc>
              <a:buFont typeface="Arial" pitchFamily="34" charset="0"/>
              <a:buChar char="•"/>
            </a:pPr>
            <a:r>
              <a:rPr lang="en-US" sz="900">
                <a:solidFill>
                  <a:srgbClr val="3A4A5C"/>
                </a:solidFill>
                <a:latin typeface="Calibri" pitchFamily="34" charset="0"/>
              </a:rPr>
              <a:t>Quantified value potential for each route to market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tent Landscaping">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rPr>
              <a:t>AiPi LLC  |  www.AiPiSolutions.com  |  Confidential</a:t>
            </a:r>
          </a:p>
        </p:txBody>
      </p:sp>
      <p:sp>
        <p:nvSpPr>
          <p:cNvPr id="14" name="LeftPanel"/>
          <p:cNvSpPr/>
          <p:nvPr/>
        </p:nvSpPr>
        <p:spPr>
          <a:xfrm>
            <a:off x="0" y="0"/>
            <a:ext cx="3200000" cy="4709160"/>
          </a:xfrm>
          <a:prstGeom prst="rect">
            <a:avLst/>
          </a:prstGeom>
          <a:solidFill>
            <a:srgbClr val="0B1D3A"/>
          </a:solidFill>
          <a:ln/>
        </p:spPr>
        <p:txBody>
          <a:bodyPr/>
          <a:lstStyle/>
          <a:p>
            <a:endParaRPr lang="en-US"/>
          </a:p>
        </p:txBody>
      </p:sp>
      <p:sp>
        <p:nvSpPr>
          <p:cNvPr id="15" name="LeftPanelTopBar"/>
          <p:cNvSpPr/>
          <p:nvPr/>
        </p:nvSpPr>
        <p:spPr>
          <a:xfrm>
            <a:off x="0" y="0"/>
            <a:ext cx="3200000" cy="60960"/>
          </a:xfrm>
          <a:prstGeom prst="rect">
            <a:avLst/>
          </a:prstGeom>
          <a:solidFill>
            <a:srgbClr val="1A7F8E"/>
          </a:solidFill>
          <a:ln/>
        </p:spPr>
        <p:txBody>
          <a:bodyPr/>
          <a:lstStyle/>
          <a:p>
            <a:endParaRPr lang="en-US"/>
          </a:p>
        </p:txBody>
      </p:sp>
      <p:sp>
        <p:nvSpPr>
          <p:cNvPr id="16" name="ProductLabel"/>
          <p:cNvSpPr/>
          <p:nvPr/>
        </p:nvSpPr>
        <p:spPr>
          <a:xfrm>
            <a:off x="228600" y="200000"/>
            <a:ext cx="2743200" cy="200000"/>
          </a:xfrm>
          <a:prstGeom prst="rect">
            <a:avLst/>
          </a:prstGeom>
          <a:noFill/>
          <a:ln/>
        </p:spPr>
        <p:txBody>
          <a:bodyPr wrap="square" lIns="0" tIns="0" rIns="0" bIns="0" rtlCol="0" anchor="ctr"/>
          <a:lstStyle/>
          <a:p>
            <a:r>
              <a:rPr lang="en-US" sz="800" b="1">
                <a:solidFill>
                  <a:srgbClr val="1A7F8E"/>
                </a:solidFill>
                <a:latin typeface="Calibri" pitchFamily="34" charset="0"/>
              </a:rPr>
              <a:t>SOLUTION ONE</a:t>
            </a:r>
          </a:p>
        </p:txBody>
      </p:sp>
      <p:sp>
        <p:nvSpPr>
          <p:cNvPr id="17" name="ProductTitle"/>
          <p:cNvSpPr/>
          <p:nvPr/>
        </p:nvSpPr>
        <p:spPr>
          <a:xfrm>
            <a:off x="228400" y="539040"/>
            <a:ext cx="2743200" cy="400000"/>
          </a:xfrm>
          <a:prstGeom prst="rect">
            <a:avLst/>
          </a:prstGeom>
          <a:noFill/>
          <a:ln/>
        </p:spPr>
        <p:txBody>
          <a:bodyPr wrap="square" lIns="0" tIns="0" rIns="0" bIns="0" rtlCol="0" anchor="ctr"/>
          <a:lstStyle/>
          <a:p>
            <a:r>
              <a:rPr lang="en-US" sz="2200" b="1">
                <a:solidFill>
                  <a:srgbClr val="FFFFFF"/>
                </a:solidFill>
                <a:latin typeface="Georgia" pitchFamily="34" charset="0"/>
              </a:rPr>
              <a:t>Patent Landscaping</a:t>
            </a:r>
          </a:p>
        </p:txBody>
      </p:sp>
      <p:sp>
        <p:nvSpPr>
          <p:cNvPr id="18" name="ProductDesc"/>
          <p:cNvSpPr/>
          <p:nvPr/>
        </p:nvSpPr>
        <p:spPr>
          <a:xfrm>
            <a:off x="228400" y="1250000"/>
            <a:ext cx="2743200" cy="600000"/>
          </a:xfrm>
          <a:prstGeom prst="rect">
            <a:avLst/>
          </a:prstGeom>
          <a:noFill/>
          <a:ln/>
        </p:spPr>
        <p:txBody>
          <a:bodyPr wrap="square" lIns="0" tIns="0" rIns="0" bIns="0" rtlCol="0" anchor="t"/>
          <a:lstStyle/>
          <a:p>
            <a:pPr>
              <a:lnSpc>
                <a:spcPct val="140000"/>
              </a:lnSpc>
            </a:pPr>
            <a:r>
              <a:rPr lang="en-US" sz="950" i="1">
                <a:solidFill>
                  <a:srgbClr val="CADCFC"/>
                </a:solidFill>
                <a:latin typeface="Calibri" pitchFamily="34" charset="0"/>
              </a:rPr>
              <a:t>Mapping how IP fits into the pending and granted  patent landscape, including adjacent patents and gaps in the landscape.</a:t>
            </a:r>
          </a:p>
        </p:txBody>
      </p:sp>
      <p:sp>
        <p:nvSpPr>
          <p:cNvPr id="20" name="Row1BG"/>
          <p:cNvSpPr/>
          <p:nvPr/>
        </p:nvSpPr>
        <p:spPr>
          <a:xfrm>
            <a:off x="3350000" y="30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Row1Accent"/>
          <p:cNvSpPr/>
          <p:nvPr/>
        </p:nvSpPr>
        <p:spPr>
          <a:xfrm>
            <a:off x="3350000" y="300000"/>
            <a:ext cx="45720" cy="1250000"/>
          </a:xfrm>
          <a:prstGeom prst="rect">
            <a:avLst/>
          </a:prstGeom>
          <a:solidFill>
            <a:srgbClr val="1A7F8E"/>
          </a:solidFill>
          <a:ln/>
        </p:spPr>
        <p:txBody>
          <a:bodyPr/>
          <a:lstStyle/>
          <a:p>
            <a:endParaRPr lang="en-US"/>
          </a:p>
        </p:txBody>
      </p:sp>
      <p:sp>
        <p:nvSpPr>
          <p:cNvPr id="22" name="Row1Content"/>
          <p:cNvSpPr/>
          <p:nvPr/>
        </p:nvSpPr>
        <p:spPr>
          <a:xfrm>
            <a:off x="3470000" y="36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Competitor Filing Analysis</a:t>
            </a:r>
          </a:p>
          <a:p>
            <a:pPr>
              <a:lnSpc>
                <a:spcPct val="130000"/>
              </a:lnSpc>
              <a:spcBef>
                <a:spcPts val="600"/>
              </a:spcBef>
            </a:pPr>
            <a:r>
              <a:rPr lang="en-US" sz="900" err="1">
                <a:solidFill>
                  <a:srgbClr val="3A4A5C"/>
                </a:solidFill>
                <a:latin typeface="Calibri" pitchFamily="34" charset="0"/>
              </a:rPr>
              <a:t>AiPI</a:t>
            </a:r>
            <a:r>
              <a:rPr lang="en-US" sz="900">
                <a:solidFill>
                  <a:srgbClr val="3A4A5C"/>
                </a:solidFill>
                <a:latin typeface="Calibri" pitchFamily="34" charset="0"/>
              </a:rPr>
              <a:t> maps every relevant patent filing in the target domain, showing exactly how the client’s IP overlaps with or is differentiated from competitors’ IP— giving a precise picture of the legal position.</a:t>
            </a:r>
          </a:p>
        </p:txBody>
      </p:sp>
      <p:sp>
        <p:nvSpPr>
          <p:cNvPr id="30" name="Row2BG"/>
          <p:cNvSpPr/>
          <p:nvPr/>
        </p:nvSpPr>
        <p:spPr>
          <a:xfrm>
            <a:off x="3350000" y="168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Row2Accent"/>
          <p:cNvSpPr/>
          <p:nvPr/>
        </p:nvSpPr>
        <p:spPr>
          <a:xfrm>
            <a:off x="3350000" y="1680000"/>
            <a:ext cx="45720" cy="1250000"/>
          </a:xfrm>
          <a:prstGeom prst="rect">
            <a:avLst/>
          </a:prstGeom>
          <a:solidFill>
            <a:srgbClr val="E8872B"/>
          </a:solidFill>
          <a:ln/>
        </p:spPr>
        <p:txBody>
          <a:bodyPr/>
          <a:lstStyle/>
          <a:p>
            <a:endParaRPr lang="en-US"/>
          </a:p>
        </p:txBody>
      </p:sp>
      <p:sp>
        <p:nvSpPr>
          <p:cNvPr id="32" name="Row2Content"/>
          <p:cNvSpPr/>
          <p:nvPr/>
        </p:nvSpPr>
        <p:spPr>
          <a:xfrm>
            <a:off x="3470000" y="174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Adjacent Gap Identification</a:t>
            </a:r>
          </a:p>
          <a:p>
            <a:pPr>
              <a:lnSpc>
                <a:spcPct val="130000"/>
              </a:lnSpc>
              <a:spcBef>
                <a:spcPts val="600"/>
              </a:spcBef>
            </a:pPr>
            <a:r>
              <a:rPr lang="en-US" sz="900" err="1">
                <a:solidFill>
                  <a:srgbClr val="3A4A5C"/>
                </a:solidFill>
                <a:latin typeface="Calibri" pitchFamily="34" charset="0"/>
              </a:rPr>
              <a:t>AiPi</a:t>
            </a:r>
            <a:r>
              <a:rPr lang="en-US" sz="900">
                <a:solidFill>
                  <a:srgbClr val="3A4A5C"/>
                </a:solidFill>
                <a:latin typeface="Calibri" pitchFamily="34" charset="0"/>
              </a:rPr>
              <a:t> identifies patent gaps adjacent to the client’s and competitors’ existing IP — white spaces where new filings could extend the IP portfolio, strengthening its defensive position, or opening entirely new licensing opportunities.</a:t>
            </a:r>
          </a:p>
        </p:txBody>
      </p:sp>
      <p:sp>
        <p:nvSpPr>
          <p:cNvPr id="40" name="Row3BG"/>
          <p:cNvSpPr/>
          <p:nvPr/>
        </p:nvSpPr>
        <p:spPr>
          <a:xfrm>
            <a:off x="3350000" y="306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41" name="Row3Accent"/>
          <p:cNvSpPr/>
          <p:nvPr/>
        </p:nvSpPr>
        <p:spPr>
          <a:xfrm>
            <a:off x="3350000" y="3060000"/>
            <a:ext cx="45720" cy="1250000"/>
          </a:xfrm>
          <a:prstGeom prst="rect">
            <a:avLst/>
          </a:prstGeom>
          <a:solidFill>
            <a:srgbClr val="0B1D3A"/>
          </a:solidFill>
          <a:ln/>
        </p:spPr>
        <p:txBody>
          <a:bodyPr/>
          <a:lstStyle/>
          <a:p>
            <a:endParaRPr lang="en-US"/>
          </a:p>
        </p:txBody>
      </p:sp>
      <p:sp>
        <p:nvSpPr>
          <p:cNvPr id="42" name="Row3Content"/>
          <p:cNvSpPr/>
          <p:nvPr/>
        </p:nvSpPr>
        <p:spPr>
          <a:xfrm>
            <a:off x="3470000" y="312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Deliverable: A Clear, Actionable Landscape Document</a:t>
            </a:r>
          </a:p>
          <a:p>
            <a:pPr>
              <a:lnSpc>
                <a:spcPct val="130000"/>
              </a:lnSpc>
              <a:spcBef>
                <a:spcPts val="600"/>
              </a:spcBef>
            </a:pPr>
            <a:r>
              <a:rPr lang="en-US" sz="900">
                <a:solidFill>
                  <a:srgbClr val="3A4A5C"/>
                </a:solidFill>
                <a:latin typeface="Calibri" pitchFamily="34" charset="0"/>
              </a:rPr>
              <a:t>The output is a structured report the IP owner, investors, and legal advisers can act on directly — not a data dump. It supports investment decisions, licensing negotiations, and portfolio strategy.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mmercialisation Landscaping">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rPr>
              <a:t>AiPi LLC  |  www.AiPiSolutions.com  |  Confidential</a:t>
            </a:r>
          </a:p>
        </p:txBody>
      </p:sp>
      <p:sp>
        <p:nvSpPr>
          <p:cNvPr id="14" name="LeftPanel"/>
          <p:cNvSpPr/>
          <p:nvPr/>
        </p:nvSpPr>
        <p:spPr>
          <a:xfrm>
            <a:off x="40000" y="0"/>
            <a:ext cx="3160000" cy="4709160"/>
          </a:xfrm>
          <a:prstGeom prst="rect">
            <a:avLst/>
          </a:prstGeom>
          <a:solidFill>
            <a:srgbClr val="0B1D3A"/>
          </a:solidFill>
          <a:ln/>
        </p:spPr>
        <p:txBody>
          <a:bodyPr/>
          <a:lstStyle/>
          <a:p>
            <a:endParaRPr lang="en-US"/>
          </a:p>
        </p:txBody>
      </p:sp>
      <p:sp>
        <p:nvSpPr>
          <p:cNvPr id="15" name="LeftPanelTopBar"/>
          <p:cNvSpPr/>
          <p:nvPr/>
        </p:nvSpPr>
        <p:spPr>
          <a:xfrm>
            <a:off x="0" y="0"/>
            <a:ext cx="3200000" cy="60960"/>
          </a:xfrm>
          <a:prstGeom prst="rect">
            <a:avLst/>
          </a:prstGeom>
          <a:solidFill>
            <a:srgbClr val="E8872B"/>
          </a:solidFill>
          <a:ln/>
        </p:spPr>
        <p:txBody>
          <a:bodyPr/>
          <a:lstStyle/>
          <a:p>
            <a:endParaRPr lang="en-US"/>
          </a:p>
        </p:txBody>
      </p:sp>
      <p:sp>
        <p:nvSpPr>
          <p:cNvPr id="16" name="ProductLabel"/>
          <p:cNvSpPr/>
          <p:nvPr/>
        </p:nvSpPr>
        <p:spPr>
          <a:xfrm>
            <a:off x="228600" y="200000"/>
            <a:ext cx="2743200" cy="200000"/>
          </a:xfrm>
          <a:prstGeom prst="rect">
            <a:avLst/>
          </a:prstGeom>
          <a:noFill/>
          <a:ln/>
        </p:spPr>
        <p:txBody>
          <a:bodyPr wrap="square" lIns="0" tIns="0" rIns="0" bIns="0" rtlCol="0" anchor="ctr"/>
          <a:lstStyle/>
          <a:p>
            <a:r>
              <a:rPr lang="en-US" sz="800" b="1">
                <a:solidFill>
                  <a:srgbClr val="E8872B"/>
                </a:solidFill>
                <a:latin typeface="Calibri" pitchFamily="34" charset="0"/>
              </a:rPr>
              <a:t>SOLUTION TWO</a:t>
            </a:r>
          </a:p>
        </p:txBody>
      </p:sp>
      <p:sp>
        <p:nvSpPr>
          <p:cNvPr id="17" name="ProductTitle"/>
          <p:cNvSpPr/>
          <p:nvPr/>
        </p:nvSpPr>
        <p:spPr>
          <a:xfrm>
            <a:off x="228600" y="539040"/>
            <a:ext cx="2892669" cy="500000"/>
          </a:xfrm>
          <a:prstGeom prst="rect">
            <a:avLst/>
          </a:prstGeom>
          <a:noFill/>
          <a:ln/>
        </p:spPr>
        <p:txBody>
          <a:bodyPr wrap="square" lIns="0" tIns="0" rIns="0" bIns="0" rtlCol="0" anchor="ctr"/>
          <a:lstStyle/>
          <a:p>
            <a:r>
              <a:rPr lang="en-US" sz="2200" b="1">
                <a:solidFill>
                  <a:srgbClr val="FFFFFF"/>
                </a:solidFill>
                <a:latin typeface="Georgia" pitchFamily="34" charset="0"/>
              </a:rPr>
              <a:t>Commercialisation Landscaping</a:t>
            </a:r>
          </a:p>
        </p:txBody>
      </p:sp>
      <p:sp>
        <p:nvSpPr>
          <p:cNvPr id="18" name="ProductDesc"/>
          <p:cNvSpPr/>
          <p:nvPr/>
        </p:nvSpPr>
        <p:spPr>
          <a:xfrm>
            <a:off x="248400" y="1296020"/>
            <a:ext cx="2743200" cy="600000"/>
          </a:xfrm>
          <a:prstGeom prst="rect">
            <a:avLst/>
          </a:prstGeom>
          <a:noFill/>
          <a:ln/>
        </p:spPr>
        <p:txBody>
          <a:bodyPr wrap="square" lIns="0" tIns="0" rIns="0" bIns="0" rtlCol="0" anchor="t"/>
          <a:lstStyle/>
          <a:p>
            <a:pPr>
              <a:lnSpc>
                <a:spcPct val="140000"/>
              </a:lnSpc>
            </a:pPr>
            <a:r>
              <a:rPr lang="en-US" sz="950" i="1">
                <a:solidFill>
                  <a:srgbClr val="CADCFC"/>
                </a:solidFill>
                <a:latin typeface="Calibri" pitchFamily="34" charset="0"/>
              </a:rPr>
              <a:t>Mapping commercial applications, competing solutions, and the value each application could generate.</a:t>
            </a:r>
          </a:p>
        </p:txBody>
      </p:sp>
      <p:sp>
        <p:nvSpPr>
          <p:cNvPr id="20" name="Row1BG"/>
          <p:cNvSpPr/>
          <p:nvPr/>
        </p:nvSpPr>
        <p:spPr>
          <a:xfrm>
            <a:off x="3350000" y="30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Row1Accent"/>
          <p:cNvSpPr/>
          <p:nvPr/>
        </p:nvSpPr>
        <p:spPr>
          <a:xfrm>
            <a:off x="3350000" y="300000"/>
            <a:ext cx="45720" cy="1250000"/>
          </a:xfrm>
          <a:prstGeom prst="rect">
            <a:avLst/>
          </a:prstGeom>
          <a:solidFill>
            <a:srgbClr val="E8872B"/>
          </a:solidFill>
          <a:ln/>
        </p:spPr>
        <p:txBody>
          <a:bodyPr/>
          <a:lstStyle/>
          <a:p>
            <a:endParaRPr lang="en-US"/>
          </a:p>
        </p:txBody>
      </p:sp>
      <p:sp>
        <p:nvSpPr>
          <p:cNvPr id="22" name="Row1Content"/>
          <p:cNvSpPr/>
          <p:nvPr/>
        </p:nvSpPr>
        <p:spPr>
          <a:xfrm>
            <a:off x="3470000" y="36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Application Identification</a:t>
            </a:r>
          </a:p>
          <a:p>
            <a:pPr>
              <a:lnSpc>
                <a:spcPct val="130000"/>
              </a:lnSpc>
              <a:spcBef>
                <a:spcPts val="600"/>
              </a:spcBef>
            </a:pPr>
            <a:r>
              <a:rPr lang="en-US" sz="900" err="1">
                <a:solidFill>
                  <a:srgbClr val="3A4A5C"/>
                </a:solidFill>
                <a:latin typeface="Calibri" pitchFamily="34" charset="0"/>
              </a:rPr>
              <a:t>AiPI</a:t>
            </a:r>
            <a:r>
              <a:rPr lang="en-US" sz="900">
                <a:solidFill>
                  <a:srgbClr val="3A4A5C"/>
                </a:solidFill>
                <a:latin typeface="Calibri" pitchFamily="34" charset="0"/>
              </a:rPr>
              <a:t> systematically identifies the full range of potential applications for the client’s IP across sectors and use cases — including applications not previously considered — and ranks them by commercial feasibility.</a:t>
            </a:r>
          </a:p>
        </p:txBody>
      </p:sp>
      <p:sp>
        <p:nvSpPr>
          <p:cNvPr id="30" name="Row2BG"/>
          <p:cNvSpPr/>
          <p:nvPr/>
        </p:nvSpPr>
        <p:spPr>
          <a:xfrm>
            <a:off x="3350000" y="168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Row2Accent"/>
          <p:cNvSpPr/>
          <p:nvPr/>
        </p:nvSpPr>
        <p:spPr>
          <a:xfrm>
            <a:off x="3350000" y="1680000"/>
            <a:ext cx="45720" cy="1250000"/>
          </a:xfrm>
          <a:prstGeom prst="rect">
            <a:avLst/>
          </a:prstGeom>
          <a:solidFill>
            <a:srgbClr val="1A7F8E"/>
          </a:solidFill>
          <a:ln/>
        </p:spPr>
        <p:txBody>
          <a:bodyPr/>
          <a:lstStyle/>
          <a:p>
            <a:endParaRPr lang="en-US"/>
          </a:p>
        </p:txBody>
      </p:sp>
      <p:sp>
        <p:nvSpPr>
          <p:cNvPr id="32" name="Row2Content"/>
          <p:cNvSpPr/>
          <p:nvPr/>
        </p:nvSpPr>
        <p:spPr>
          <a:xfrm>
            <a:off x="3470000" y="174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Competitive Solution Mapping</a:t>
            </a:r>
          </a:p>
          <a:p>
            <a:pPr>
              <a:lnSpc>
                <a:spcPct val="130000"/>
              </a:lnSpc>
              <a:spcBef>
                <a:spcPts val="600"/>
              </a:spcBef>
            </a:pPr>
            <a:r>
              <a:rPr lang="en-US" sz="900">
                <a:solidFill>
                  <a:srgbClr val="3A4A5C"/>
                </a:solidFill>
                <a:latin typeface="Calibri" pitchFamily="34" charset="0"/>
              </a:rPr>
              <a:t>For each application, </a:t>
            </a:r>
            <a:r>
              <a:rPr lang="en-US" sz="900" err="1">
                <a:solidFill>
                  <a:srgbClr val="3A4A5C"/>
                </a:solidFill>
                <a:latin typeface="Calibri" pitchFamily="34" charset="0"/>
              </a:rPr>
              <a:t>AiPi</a:t>
            </a:r>
            <a:r>
              <a:rPr lang="en-US" sz="900">
                <a:solidFill>
                  <a:srgbClr val="3A4A5C"/>
                </a:solidFill>
                <a:latin typeface="Calibri" pitchFamily="34" charset="0"/>
              </a:rPr>
              <a:t> maps existing competing solutions — products, services, and technologies — and assesses where the client’s IP offers a genuine advantage in terms of performance, cost, or defensibility.</a:t>
            </a:r>
          </a:p>
        </p:txBody>
      </p:sp>
      <p:sp>
        <p:nvSpPr>
          <p:cNvPr id="40" name="Row3BG"/>
          <p:cNvSpPr/>
          <p:nvPr/>
        </p:nvSpPr>
        <p:spPr>
          <a:xfrm>
            <a:off x="3350000" y="3060000"/>
            <a:ext cx="5630000" cy="125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41" name="Row3Accent"/>
          <p:cNvSpPr/>
          <p:nvPr/>
        </p:nvSpPr>
        <p:spPr>
          <a:xfrm>
            <a:off x="3350000" y="3060000"/>
            <a:ext cx="45720" cy="1250000"/>
          </a:xfrm>
          <a:prstGeom prst="rect">
            <a:avLst/>
          </a:prstGeom>
          <a:solidFill>
            <a:srgbClr val="0B1D3A"/>
          </a:solidFill>
          <a:ln/>
        </p:spPr>
        <p:txBody>
          <a:bodyPr/>
          <a:lstStyle/>
          <a:p>
            <a:endParaRPr lang="en-US"/>
          </a:p>
        </p:txBody>
      </p:sp>
      <p:sp>
        <p:nvSpPr>
          <p:cNvPr id="42" name="Row3Content"/>
          <p:cNvSpPr/>
          <p:nvPr/>
        </p:nvSpPr>
        <p:spPr>
          <a:xfrm>
            <a:off x="3470000" y="3120000"/>
            <a:ext cx="5400000" cy="1130000"/>
          </a:xfrm>
          <a:prstGeom prst="rect">
            <a:avLst/>
          </a:prstGeom>
          <a:noFill/>
          <a:ln/>
        </p:spPr>
        <p:txBody>
          <a:bodyPr wrap="square" lIns="0" tIns="0" rIns="0" bIns="0" rtlCol="0" anchor="ctr"/>
          <a:lstStyle/>
          <a:p>
            <a:r>
              <a:rPr lang="en-US" sz="1100" b="1">
                <a:solidFill>
                  <a:srgbClr val="0B1D3A"/>
                </a:solidFill>
                <a:latin typeface="Calibri" pitchFamily="34" charset="0"/>
              </a:rPr>
              <a:t>Value Quantification by Route to Market</a:t>
            </a:r>
          </a:p>
          <a:p>
            <a:pPr>
              <a:lnSpc>
                <a:spcPct val="130000"/>
              </a:lnSpc>
              <a:spcBef>
                <a:spcPts val="600"/>
              </a:spcBef>
            </a:pPr>
            <a:r>
              <a:rPr lang="en-US" sz="900" err="1">
                <a:solidFill>
                  <a:srgbClr val="3A4A5C"/>
                </a:solidFill>
                <a:latin typeface="Calibri" pitchFamily="34" charset="0"/>
              </a:rPr>
              <a:t>AiPi</a:t>
            </a:r>
            <a:r>
              <a:rPr lang="en-US" sz="900">
                <a:solidFill>
                  <a:srgbClr val="3A4A5C"/>
                </a:solidFill>
                <a:latin typeface="Calibri" pitchFamily="34" charset="0"/>
              </a:rPr>
              <a:t> estimates the commercial value each application could generate, enabling clients to prioritise routes, structure licensing terms, and make defensible business cases to investors or partners.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How We Work">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rPr>
              <a:t>AiPi LLC  |  www.AiPiSolutions.com  |  Confidential</a:t>
            </a:r>
          </a:p>
        </p:txBody>
      </p:sp>
      <p:sp>
        <p:nvSpPr>
          <p:cNvPr id="11" name="SlideTitle"/>
          <p:cNvSpPr/>
          <p:nvPr/>
        </p:nvSpPr>
        <p:spPr>
          <a:xfrm>
            <a:off x="608275" y="347472"/>
            <a:ext cx="7772400" cy="457200"/>
          </a:xfrm>
          <a:prstGeom prst="rect">
            <a:avLst/>
          </a:prstGeom>
          <a:noFill/>
          <a:ln/>
        </p:spPr>
        <p:txBody>
          <a:bodyPr wrap="square" lIns="0" tIns="0" rIns="0" bIns="0" rtlCol="0" anchor="ctr"/>
          <a:lstStyle/>
          <a:p>
            <a:r>
              <a:rPr lang="en-US" b="1">
                <a:solidFill>
                  <a:srgbClr val="0B1D3A"/>
                </a:solidFill>
                <a:latin typeface="Georgia" pitchFamily="34" charset="0"/>
              </a:rPr>
              <a:t>How </a:t>
            </a:r>
            <a:r>
              <a:rPr lang="en-US" b="1" err="1">
                <a:solidFill>
                  <a:srgbClr val="0B1D3A"/>
                </a:solidFill>
                <a:latin typeface="Georgia" pitchFamily="34" charset="0"/>
              </a:rPr>
              <a:t>AiPi</a:t>
            </a:r>
            <a:r>
              <a:rPr lang="en-US" b="1">
                <a:solidFill>
                  <a:srgbClr val="0B1D3A"/>
                </a:solidFill>
                <a:latin typeface="Georgia" pitchFamily="34" charset="0"/>
              </a:rPr>
              <a:t> Works: From Unsorted IP to Actionable Intelligence</a:t>
            </a:r>
          </a:p>
        </p:txBody>
      </p:sp>
      <p:sp>
        <p:nvSpPr>
          <p:cNvPr id="12" name="OrangeAccent"/>
          <p:cNvSpPr/>
          <p:nvPr/>
        </p:nvSpPr>
        <p:spPr>
          <a:xfrm>
            <a:off x="640080" y="804672"/>
            <a:ext cx="1097280" cy="36576"/>
          </a:xfrm>
          <a:prstGeom prst="rect">
            <a:avLst/>
          </a:prstGeom>
          <a:solidFill>
            <a:srgbClr val="E8872B"/>
          </a:solidFill>
          <a:ln/>
        </p:spPr>
        <p:txBody>
          <a:bodyPr/>
          <a:lstStyle/>
          <a:p>
            <a:endParaRPr lang="en-US"/>
          </a:p>
        </p:txBody>
      </p:sp>
      <p:sp>
        <p:nvSpPr>
          <p:cNvPr id="13" name="Subtitle"/>
          <p:cNvSpPr/>
          <p:nvPr/>
        </p:nvSpPr>
        <p:spPr>
          <a:xfrm>
            <a:off x="640080" y="880000"/>
            <a:ext cx="7863840" cy="310000"/>
          </a:xfrm>
          <a:prstGeom prst="rect">
            <a:avLst/>
          </a:prstGeom>
          <a:noFill/>
          <a:ln/>
        </p:spPr>
        <p:txBody>
          <a:bodyPr wrap="square" lIns="0" tIns="0" rIns="0" bIns="0" rtlCol="0" anchor="ctr"/>
          <a:lstStyle/>
          <a:p>
            <a:r>
              <a:rPr lang="en-US" sz="1100" i="1">
                <a:solidFill>
                  <a:srgbClr val="007282"/>
                </a:solidFill>
                <a:latin typeface="Calibri" pitchFamily="34" charset="0"/>
              </a:rPr>
              <a:t>A streamlined four-stage process, powered by proprietary AI, typically completed within four to six weeks of engagement.</a:t>
            </a:r>
          </a:p>
        </p:txBody>
      </p:sp>
      <p:sp>
        <p:nvSpPr>
          <p:cNvPr id="20" name="Step1BG"/>
          <p:cNvSpPr/>
          <p:nvPr/>
        </p:nvSpPr>
        <p:spPr>
          <a:xfrm>
            <a:off x="550000" y="1349580"/>
            <a:ext cx="1800000" cy="3200000"/>
          </a:xfrm>
          <a:prstGeom prst="rect">
            <a:avLst/>
          </a:prstGeom>
          <a:solidFill>
            <a:srgbClr val="0B1D3A"/>
          </a:solidFill>
          <a:ln/>
          <a:effectLst>
            <a:outerShdw blurRad="101600" dist="38100" dir="8100000" algn="bl" rotWithShape="0">
              <a:srgbClr val="000000">
                <a:alpha val="20000"/>
              </a:srgbClr>
            </a:outerShdw>
          </a:effectLst>
        </p:spPr>
        <p:txBody>
          <a:bodyPr/>
          <a:lstStyle/>
          <a:p>
            <a:endParaRPr lang="en-US"/>
          </a:p>
        </p:txBody>
      </p:sp>
      <p:sp>
        <p:nvSpPr>
          <p:cNvPr id="21" name="Step1Num"/>
          <p:cNvSpPr/>
          <p:nvPr/>
        </p:nvSpPr>
        <p:spPr>
          <a:xfrm>
            <a:off x="730000" y="1380000"/>
            <a:ext cx="1620000" cy="500000"/>
          </a:xfrm>
          <a:prstGeom prst="rect">
            <a:avLst/>
          </a:prstGeom>
          <a:noFill/>
          <a:ln/>
        </p:spPr>
        <p:txBody>
          <a:bodyPr wrap="square" lIns="0" tIns="0" rIns="0" bIns="0" rtlCol="0" anchor="ctr"/>
          <a:lstStyle/>
          <a:p>
            <a:r>
              <a:rPr lang="en-US" sz="3600" b="1">
                <a:solidFill>
                  <a:srgbClr val="1A7F8E"/>
                </a:solidFill>
                <a:latin typeface="Georgia" pitchFamily="34" charset="0"/>
              </a:rPr>
              <a:t>1</a:t>
            </a:r>
          </a:p>
        </p:txBody>
      </p:sp>
      <p:sp>
        <p:nvSpPr>
          <p:cNvPr id="22" name="Step1Head"/>
          <p:cNvSpPr/>
          <p:nvPr/>
        </p:nvSpPr>
        <p:spPr>
          <a:xfrm>
            <a:off x="730000" y="1930000"/>
            <a:ext cx="1620000" cy="250000"/>
          </a:xfrm>
          <a:prstGeom prst="rect">
            <a:avLst/>
          </a:prstGeom>
          <a:noFill/>
          <a:ln/>
        </p:spPr>
        <p:txBody>
          <a:bodyPr wrap="square" lIns="0" tIns="0" rIns="0" bIns="0" rtlCol="0" anchor="ctr"/>
          <a:lstStyle/>
          <a:p>
            <a:r>
              <a:rPr lang="en-US" sz="1200" b="1">
                <a:solidFill>
                  <a:srgbClr val="FFFFFF"/>
                </a:solidFill>
                <a:latin typeface="Calibri" pitchFamily="34" charset="0"/>
              </a:rPr>
              <a:t>IP Intake</a:t>
            </a:r>
          </a:p>
        </p:txBody>
      </p:sp>
      <p:sp>
        <p:nvSpPr>
          <p:cNvPr id="23" name="Step1Body"/>
          <p:cNvSpPr/>
          <p:nvPr/>
        </p:nvSpPr>
        <p:spPr>
          <a:xfrm>
            <a:off x="730000" y="2220000"/>
            <a:ext cx="1415323" cy="2200000"/>
          </a:xfrm>
          <a:prstGeom prst="rect">
            <a:avLst/>
          </a:prstGeom>
          <a:noFill/>
          <a:ln/>
        </p:spPr>
        <p:txBody>
          <a:bodyPr wrap="square" lIns="0" tIns="0" rIns="0" bIns="0" rtlCol="0" anchor="t"/>
          <a:lstStyle/>
          <a:p>
            <a:pPr>
              <a:lnSpc>
                <a:spcPct val="130000"/>
              </a:lnSpc>
            </a:pPr>
            <a:r>
              <a:rPr lang="en-US" sz="1100">
                <a:solidFill>
                  <a:srgbClr val="CADCFC"/>
                </a:solidFill>
                <a:latin typeface="Calibri" pitchFamily="34" charset="0"/>
              </a:rPr>
              <a:t>A client shares registered IP. </a:t>
            </a:r>
            <a:r>
              <a:rPr lang="en-US" sz="1100" err="1">
                <a:solidFill>
                  <a:srgbClr val="CADCFC"/>
                </a:solidFill>
                <a:latin typeface="Calibri" pitchFamily="34" charset="0"/>
              </a:rPr>
              <a:t>AiPi</a:t>
            </a:r>
            <a:r>
              <a:rPr lang="en-US" sz="1100">
                <a:solidFill>
                  <a:srgbClr val="CADCFC"/>
                </a:solidFill>
                <a:latin typeface="Calibri" pitchFamily="34" charset="0"/>
              </a:rPr>
              <a:t> reviews patent filings, technical specifications, and any existing commercialisation context.</a:t>
            </a:r>
          </a:p>
        </p:txBody>
      </p:sp>
      <p:sp>
        <p:nvSpPr>
          <p:cNvPr id="30" name="Step2BG"/>
          <p:cNvSpPr/>
          <p:nvPr/>
        </p:nvSpPr>
        <p:spPr>
          <a:xfrm>
            <a:off x="2597000" y="1310000"/>
            <a:ext cx="1800000" cy="320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Step2Num"/>
          <p:cNvSpPr/>
          <p:nvPr/>
        </p:nvSpPr>
        <p:spPr>
          <a:xfrm>
            <a:off x="2732000" y="1380000"/>
            <a:ext cx="1620000" cy="500000"/>
          </a:xfrm>
          <a:prstGeom prst="rect">
            <a:avLst/>
          </a:prstGeom>
          <a:noFill/>
          <a:ln/>
        </p:spPr>
        <p:txBody>
          <a:bodyPr wrap="square" lIns="0" tIns="0" rIns="0" bIns="0" rtlCol="0" anchor="ctr"/>
          <a:lstStyle/>
          <a:p>
            <a:r>
              <a:rPr lang="en-US" sz="3600" b="1">
                <a:solidFill>
                  <a:srgbClr val="E8872B"/>
                </a:solidFill>
                <a:latin typeface="Georgia" pitchFamily="34" charset="0"/>
              </a:rPr>
              <a:t>2</a:t>
            </a:r>
          </a:p>
        </p:txBody>
      </p:sp>
      <p:sp>
        <p:nvSpPr>
          <p:cNvPr id="32" name="Step2Head"/>
          <p:cNvSpPr/>
          <p:nvPr/>
        </p:nvSpPr>
        <p:spPr>
          <a:xfrm>
            <a:off x="2732000" y="1930000"/>
            <a:ext cx="1620000" cy="250000"/>
          </a:xfrm>
          <a:prstGeom prst="rect">
            <a:avLst/>
          </a:prstGeom>
          <a:noFill/>
          <a:ln/>
        </p:spPr>
        <p:txBody>
          <a:bodyPr wrap="square" lIns="0" tIns="0" rIns="0" bIns="0" rtlCol="0" anchor="ctr"/>
          <a:lstStyle/>
          <a:p>
            <a:r>
              <a:rPr lang="en-US" sz="1200" b="1">
                <a:solidFill>
                  <a:srgbClr val="0B1D3A"/>
                </a:solidFill>
                <a:latin typeface="Calibri" pitchFamily="34" charset="0"/>
              </a:rPr>
              <a:t>AI Platform Analysis</a:t>
            </a:r>
          </a:p>
        </p:txBody>
      </p:sp>
      <p:sp>
        <p:nvSpPr>
          <p:cNvPr id="33" name="Step2Body"/>
          <p:cNvSpPr/>
          <p:nvPr/>
        </p:nvSpPr>
        <p:spPr>
          <a:xfrm>
            <a:off x="2732000" y="2220000"/>
            <a:ext cx="1620000" cy="2200000"/>
          </a:xfrm>
          <a:prstGeom prst="rect">
            <a:avLst/>
          </a:prstGeom>
          <a:noFill/>
          <a:ln/>
        </p:spPr>
        <p:txBody>
          <a:bodyPr wrap="square" lIns="0" tIns="0" rIns="0" bIns="0" rtlCol="0" anchor="t"/>
          <a:lstStyle/>
          <a:p>
            <a:pPr>
              <a:lnSpc>
                <a:spcPct val="130000"/>
              </a:lnSpc>
            </a:pPr>
            <a:r>
              <a:rPr lang="en-US" sz="1100">
                <a:solidFill>
                  <a:srgbClr val="3A4A5C"/>
                </a:solidFill>
                <a:latin typeface="Calibri" pitchFamily="34" charset="0"/>
              </a:rPr>
              <a:t>Our proprietary platforms ingest and analyse global patent databases and commercial market data, mapping the client’s IP against the full competitive landscape.</a:t>
            </a:r>
          </a:p>
        </p:txBody>
      </p:sp>
      <p:sp>
        <p:nvSpPr>
          <p:cNvPr id="40" name="Step3BG"/>
          <p:cNvSpPr/>
          <p:nvPr/>
        </p:nvSpPr>
        <p:spPr>
          <a:xfrm>
            <a:off x="4554000" y="1310000"/>
            <a:ext cx="1800000" cy="3200000"/>
          </a:xfrm>
          <a:prstGeom prst="rect">
            <a:avLst/>
          </a:prstGeom>
          <a:solidFill>
            <a:srgbClr val="0B1D3A"/>
          </a:solidFill>
          <a:ln/>
          <a:effectLst>
            <a:outerShdw blurRad="101600" dist="38100" dir="8100000" algn="bl" rotWithShape="0">
              <a:srgbClr val="000000">
                <a:alpha val="20000"/>
              </a:srgbClr>
            </a:outerShdw>
          </a:effectLst>
        </p:spPr>
        <p:txBody>
          <a:bodyPr/>
          <a:lstStyle/>
          <a:p>
            <a:endParaRPr lang="en-US"/>
          </a:p>
        </p:txBody>
      </p:sp>
      <p:sp>
        <p:nvSpPr>
          <p:cNvPr id="41" name="Step3Num"/>
          <p:cNvSpPr/>
          <p:nvPr/>
        </p:nvSpPr>
        <p:spPr>
          <a:xfrm>
            <a:off x="4734000" y="1380000"/>
            <a:ext cx="1620000" cy="500000"/>
          </a:xfrm>
          <a:prstGeom prst="rect">
            <a:avLst/>
          </a:prstGeom>
          <a:noFill/>
          <a:ln/>
        </p:spPr>
        <p:txBody>
          <a:bodyPr wrap="square" lIns="0" tIns="0" rIns="0" bIns="0" rtlCol="0" anchor="ctr"/>
          <a:lstStyle/>
          <a:p>
            <a:r>
              <a:rPr lang="en-US" sz="3600" b="1">
                <a:solidFill>
                  <a:srgbClr val="E8872B"/>
                </a:solidFill>
                <a:latin typeface="Georgia" pitchFamily="34" charset="0"/>
              </a:rPr>
              <a:t>3</a:t>
            </a:r>
          </a:p>
        </p:txBody>
      </p:sp>
      <p:sp>
        <p:nvSpPr>
          <p:cNvPr id="42" name="Step3Head"/>
          <p:cNvSpPr/>
          <p:nvPr/>
        </p:nvSpPr>
        <p:spPr>
          <a:xfrm>
            <a:off x="4734000" y="1930000"/>
            <a:ext cx="1620000" cy="250000"/>
          </a:xfrm>
          <a:prstGeom prst="rect">
            <a:avLst/>
          </a:prstGeom>
          <a:noFill/>
          <a:ln/>
        </p:spPr>
        <p:txBody>
          <a:bodyPr wrap="square" lIns="0" tIns="0" rIns="0" bIns="0" rtlCol="0" anchor="ctr"/>
          <a:lstStyle/>
          <a:p>
            <a:r>
              <a:rPr lang="en-US" sz="1200" b="1">
                <a:solidFill>
                  <a:srgbClr val="FFFFFF"/>
                </a:solidFill>
                <a:latin typeface="Calibri" pitchFamily="34" charset="0"/>
              </a:rPr>
              <a:t>Expert Synthesis</a:t>
            </a:r>
          </a:p>
        </p:txBody>
      </p:sp>
      <p:sp>
        <p:nvSpPr>
          <p:cNvPr id="43" name="Step3Body"/>
          <p:cNvSpPr/>
          <p:nvPr/>
        </p:nvSpPr>
        <p:spPr>
          <a:xfrm>
            <a:off x="4734000" y="2220000"/>
            <a:ext cx="1490954" cy="2200000"/>
          </a:xfrm>
          <a:prstGeom prst="rect">
            <a:avLst/>
          </a:prstGeom>
          <a:noFill/>
          <a:ln/>
        </p:spPr>
        <p:txBody>
          <a:bodyPr wrap="square" lIns="0" tIns="0" rIns="0" bIns="0" rtlCol="0" anchor="t"/>
          <a:lstStyle/>
          <a:p>
            <a:pPr>
              <a:lnSpc>
                <a:spcPct val="130000"/>
              </a:lnSpc>
            </a:pPr>
            <a:r>
              <a:rPr lang="en-US" sz="1100">
                <a:solidFill>
                  <a:srgbClr val="CADCFC"/>
                </a:solidFill>
                <a:latin typeface="Calibri" pitchFamily="34" charset="0"/>
              </a:rPr>
              <a:t>Our technical and commercial team interpret the platform outputs, validate findings, and frame conclusions in the context of the client’s objectives.</a:t>
            </a:r>
          </a:p>
        </p:txBody>
      </p:sp>
      <p:sp>
        <p:nvSpPr>
          <p:cNvPr id="50" name="Step4BG"/>
          <p:cNvSpPr/>
          <p:nvPr/>
        </p:nvSpPr>
        <p:spPr>
          <a:xfrm>
            <a:off x="6646000" y="1310000"/>
            <a:ext cx="1858000" cy="3200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1" name="Step4Num"/>
          <p:cNvSpPr/>
          <p:nvPr/>
        </p:nvSpPr>
        <p:spPr>
          <a:xfrm>
            <a:off x="6736000" y="1380000"/>
            <a:ext cx="1668000" cy="500000"/>
          </a:xfrm>
          <a:prstGeom prst="rect">
            <a:avLst/>
          </a:prstGeom>
          <a:noFill/>
          <a:ln/>
        </p:spPr>
        <p:txBody>
          <a:bodyPr wrap="square" lIns="0" tIns="0" rIns="0" bIns="0" rtlCol="0" anchor="ctr"/>
          <a:lstStyle/>
          <a:p>
            <a:r>
              <a:rPr lang="en-US" sz="3600" b="1">
                <a:solidFill>
                  <a:srgbClr val="1A7F8E"/>
                </a:solidFill>
                <a:latin typeface="Georgia" pitchFamily="34" charset="0"/>
              </a:rPr>
              <a:t>4</a:t>
            </a:r>
          </a:p>
        </p:txBody>
      </p:sp>
      <p:sp>
        <p:nvSpPr>
          <p:cNvPr id="52" name="Step4Head"/>
          <p:cNvSpPr/>
          <p:nvPr/>
        </p:nvSpPr>
        <p:spPr>
          <a:xfrm>
            <a:off x="6736000" y="1930000"/>
            <a:ext cx="1668000" cy="250000"/>
          </a:xfrm>
          <a:prstGeom prst="rect">
            <a:avLst/>
          </a:prstGeom>
          <a:noFill/>
          <a:ln/>
        </p:spPr>
        <p:txBody>
          <a:bodyPr wrap="square" lIns="0" tIns="0" rIns="0" bIns="0" rtlCol="0" anchor="ctr"/>
          <a:lstStyle/>
          <a:p>
            <a:r>
              <a:rPr lang="en-US" sz="1200" b="1">
                <a:solidFill>
                  <a:srgbClr val="0B1D3A"/>
                </a:solidFill>
                <a:latin typeface="Calibri" pitchFamily="34" charset="0"/>
              </a:rPr>
              <a:t>Delivery &amp; Briefing</a:t>
            </a:r>
          </a:p>
        </p:txBody>
      </p:sp>
      <p:sp>
        <p:nvSpPr>
          <p:cNvPr id="53" name="Step4Body"/>
          <p:cNvSpPr/>
          <p:nvPr/>
        </p:nvSpPr>
        <p:spPr>
          <a:xfrm>
            <a:off x="6736000" y="2220000"/>
            <a:ext cx="1668000" cy="2200000"/>
          </a:xfrm>
          <a:prstGeom prst="rect">
            <a:avLst/>
          </a:prstGeom>
          <a:noFill/>
          <a:ln/>
        </p:spPr>
        <p:txBody>
          <a:bodyPr wrap="square" lIns="0" tIns="0" rIns="0" bIns="0" rtlCol="0" anchor="t"/>
          <a:lstStyle/>
          <a:p>
            <a:pPr>
              <a:lnSpc>
                <a:spcPct val="130000"/>
              </a:lnSpc>
            </a:pPr>
            <a:r>
              <a:rPr lang="en-US" sz="1100">
                <a:solidFill>
                  <a:srgbClr val="3A4A5C"/>
                </a:solidFill>
                <a:latin typeface="Calibri" pitchFamily="34" charset="0"/>
              </a:rPr>
              <a:t>The client receive a structured landscape document plus a briefing session to walk through findings and explore next steps together.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Why AiPi">
    <p:bg>
      <p:bgPr>
        <a:solidFill>
          <a:srgbClr val="F4F6FA"/>
        </a:solidFill>
        <a:effectLst/>
      </p:bgPr>
    </p:bg>
    <p:spTree>
      <p:nvGrpSpPr>
        <p:cNvPr id="1" name=""/>
        <p:cNvGrpSpPr/>
        <p:nvPr/>
      </p:nvGrpSpPr>
      <p:grpSpPr>
        <a:xfrm>
          <a:off x="0" y="0"/>
          <a:ext cx="0" cy="0"/>
          <a:chOff x="0" y="0"/>
          <a:chExt cx="0" cy="0"/>
        </a:xfrm>
      </p:grpSpPr>
      <p:sp>
        <p:nvSpPr>
          <p:cNvPr id="9" name="FooterBG"/>
          <p:cNvSpPr/>
          <p:nvPr/>
        </p:nvSpPr>
        <p:spPr>
          <a:xfrm>
            <a:off x="0" y="4709160"/>
            <a:ext cx="9144000" cy="434340"/>
          </a:xfrm>
          <a:prstGeom prst="rect">
            <a:avLst/>
          </a:prstGeom>
          <a:solidFill>
            <a:srgbClr val="0B1D3A"/>
          </a:solidFill>
          <a:ln/>
        </p:spPr>
        <p:txBody>
          <a:bodyPr/>
          <a:lstStyle/>
          <a:p>
            <a:endParaRPr lang="en-US"/>
          </a:p>
        </p:txBody>
      </p:sp>
      <p:sp>
        <p:nvSpPr>
          <p:cNvPr id="10" name="FooterText"/>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rPr>
              <a:t>AiPi LLC  |  www.AiPiSolutions.com  |  Confidential</a:t>
            </a:r>
          </a:p>
        </p:txBody>
      </p:sp>
      <p:sp>
        <p:nvSpPr>
          <p:cNvPr id="11" name="SlideTitle"/>
          <p:cNvSpPr/>
          <p:nvPr/>
        </p:nvSpPr>
        <p:spPr>
          <a:xfrm>
            <a:off x="608275" y="347472"/>
            <a:ext cx="7772400" cy="457200"/>
          </a:xfrm>
          <a:prstGeom prst="rect">
            <a:avLst/>
          </a:prstGeom>
          <a:noFill/>
          <a:ln/>
        </p:spPr>
        <p:txBody>
          <a:bodyPr wrap="square" lIns="0" tIns="0" rIns="0" bIns="0" rtlCol="0" anchor="ctr"/>
          <a:lstStyle/>
          <a:p>
            <a:r>
              <a:rPr lang="en-US" b="1">
                <a:solidFill>
                  <a:srgbClr val="0B1D3A"/>
                </a:solidFill>
                <a:latin typeface="Georgia" pitchFamily="34" charset="0"/>
              </a:rPr>
              <a:t>Why AiPi: The Capability That Makes the Difference</a:t>
            </a:r>
          </a:p>
        </p:txBody>
      </p:sp>
      <p:sp>
        <p:nvSpPr>
          <p:cNvPr id="12" name="OrangeAccent"/>
          <p:cNvSpPr/>
          <p:nvPr/>
        </p:nvSpPr>
        <p:spPr>
          <a:xfrm>
            <a:off x="640080" y="804672"/>
            <a:ext cx="1097280" cy="36576"/>
          </a:xfrm>
          <a:prstGeom prst="rect">
            <a:avLst/>
          </a:prstGeom>
          <a:solidFill>
            <a:srgbClr val="E8872B"/>
          </a:solidFill>
          <a:ln/>
        </p:spPr>
        <p:txBody>
          <a:bodyPr/>
          <a:lstStyle/>
          <a:p>
            <a:endParaRPr lang="en-US"/>
          </a:p>
        </p:txBody>
      </p:sp>
      <p:sp>
        <p:nvSpPr>
          <p:cNvPr id="13" name="Subtitle"/>
          <p:cNvSpPr/>
          <p:nvPr/>
        </p:nvSpPr>
        <p:spPr>
          <a:xfrm>
            <a:off x="640080" y="880000"/>
            <a:ext cx="7863840" cy="310000"/>
          </a:xfrm>
          <a:prstGeom prst="rect">
            <a:avLst/>
          </a:prstGeom>
          <a:noFill/>
          <a:ln/>
        </p:spPr>
        <p:txBody>
          <a:bodyPr wrap="square" lIns="0" tIns="0" rIns="0" bIns="0" rtlCol="0" anchor="ctr"/>
          <a:lstStyle/>
          <a:p>
            <a:r>
              <a:rPr lang="en-US" sz="1100" i="1" dirty="0">
                <a:solidFill>
                  <a:srgbClr val="8A9AB5"/>
                </a:solidFill>
                <a:latin typeface="Calibri" pitchFamily="34" charset="0"/>
              </a:rPr>
              <a:t>Two things set AiPi apart from patent attorneys, management consultants, and generic research firms.</a:t>
            </a:r>
          </a:p>
        </p:txBody>
      </p:sp>
      <p:sp>
        <p:nvSpPr>
          <p:cNvPr id="20" name="Card1BG"/>
          <p:cNvSpPr/>
          <p:nvPr/>
        </p:nvSpPr>
        <p:spPr>
          <a:xfrm>
            <a:off x="640080" y="1310000"/>
            <a:ext cx="3810000" cy="3200000"/>
          </a:xfrm>
          <a:prstGeom prst="rect">
            <a:avLst/>
          </a:prstGeom>
          <a:solidFill>
            <a:srgbClr val="0B1D3A"/>
          </a:solidFill>
          <a:ln/>
          <a:effectLst>
            <a:outerShdw blurRad="101600" dist="38100" dir="8100000" algn="bl" rotWithShape="0">
              <a:srgbClr val="000000">
                <a:alpha val="20000"/>
              </a:srgbClr>
            </a:outerShdw>
          </a:effectLst>
        </p:spPr>
        <p:txBody>
          <a:bodyPr/>
          <a:lstStyle/>
          <a:p>
            <a:endParaRPr lang="en-US"/>
          </a:p>
        </p:txBody>
      </p:sp>
      <p:sp>
        <p:nvSpPr>
          <p:cNvPr id="21" name="Card1TopBar"/>
          <p:cNvSpPr/>
          <p:nvPr/>
        </p:nvSpPr>
        <p:spPr>
          <a:xfrm>
            <a:off x="640080" y="1310000"/>
            <a:ext cx="3810000" cy="60960"/>
          </a:xfrm>
          <a:prstGeom prst="rect">
            <a:avLst/>
          </a:prstGeom>
          <a:solidFill>
            <a:srgbClr val="1A7F8E"/>
          </a:solidFill>
          <a:ln/>
        </p:spPr>
        <p:txBody>
          <a:bodyPr/>
          <a:lstStyle/>
          <a:p>
            <a:endParaRPr lang="en-US"/>
          </a:p>
        </p:txBody>
      </p:sp>
      <p:sp>
        <p:nvSpPr>
          <p:cNvPr id="22" name="Card1Head"/>
          <p:cNvSpPr/>
          <p:nvPr/>
        </p:nvSpPr>
        <p:spPr>
          <a:xfrm>
            <a:off x="800000" y="1440000"/>
            <a:ext cx="3490000" cy="350000"/>
          </a:xfrm>
          <a:prstGeom prst="rect">
            <a:avLst/>
          </a:prstGeom>
          <a:noFill/>
          <a:ln/>
        </p:spPr>
        <p:txBody>
          <a:bodyPr wrap="square" lIns="0" tIns="0" rIns="0" bIns="0" rtlCol="0" anchor="ctr"/>
          <a:lstStyle/>
          <a:p>
            <a:r>
              <a:rPr lang="en-US" sz="1500" b="1">
                <a:solidFill>
                  <a:srgbClr val="FFFFFF"/>
                </a:solidFill>
                <a:latin typeface="Georgia" pitchFamily="34" charset="0"/>
              </a:rPr>
              <a:t>Proprietary AI Platform</a:t>
            </a:r>
          </a:p>
        </p:txBody>
      </p:sp>
      <p:sp>
        <p:nvSpPr>
          <p:cNvPr id="23" name="Card1Body"/>
          <p:cNvSpPr/>
          <p:nvPr/>
        </p:nvSpPr>
        <p:spPr>
          <a:xfrm>
            <a:off x="800000" y="1850000"/>
            <a:ext cx="3490000" cy="2580000"/>
          </a:xfrm>
          <a:prstGeom prst="rect">
            <a:avLst/>
          </a:prstGeom>
          <a:noFill/>
          <a:ln/>
        </p:spPr>
        <p:txBody>
          <a:bodyPr wrap="square" lIns="0" tIns="0" rIns="0" bIns="0" rtlCol="0" anchor="t"/>
          <a:lstStyle/>
          <a:p>
            <a:pPr>
              <a:lnSpc>
                <a:spcPct val="140000"/>
              </a:lnSpc>
            </a:pPr>
            <a:r>
              <a:rPr lang="en-US" sz="1100" err="1">
                <a:solidFill>
                  <a:srgbClr val="CADCFC"/>
                </a:solidFill>
                <a:latin typeface="Calibri" pitchFamily="34" charset="0"/>
              </a:rPr>
              <a:t>AiPi’s</a:t>
            </a:r>
            <a:r>
              <a:rPr lang="en-US" sz="1100">
                <a:solidFill>
                  <a:srgbClr val="CADCFC"/>
                </a:solidFill>
                <a:latin typeface="Calibri" pitchFamily="34" charset="0"/>
              </a:rPr>
              <a:t> platform is built in-house by a team with deep expertise in AI,  IP law and innovation financing. </a:t>
            </a:r>
          </a:p>
          <a:p>
            <a:pPr>
              <a:lnSpc>
                <a:spcPct val="140000"/>
              </a:lnSpc>
              <a:spcBef>
                <a:spcPts val="1200"/>
              </a:spcBef>
            </a:pPr>
            <a:r>
              <a:rPr lang="en-US" sz="1100">
                <a:solidFill>
                  <a:srgbClr val="CADCFC"/>
                </a:solidFill>
                <a:latin typeface="Calibri" pitchFamily="34" charset="0"/>
              </a:rPr>
              <a:t>The result is an analysis that is faster, broader in scope, and more precise than anything achievable through manual research — giving clients a level of landscape clarity and commercial targeting options that is unparalleled.</a:t>
            </a:r>
          </a:p>
        </p:txBody>
      </p:sp>
      <p:sp>
        <p:nvSpPr>
          <p:cNvPr id="30" name="Card2BG"/>
          <p:cNvSpPr/>
          <p:nvPr/>
        </p:nvSpPr>
        <p:spPr>
          <a:xfrm>
            <a:off x="4694000" y="1310000"/>
            <a:ext cx="3810000" cy="3200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1" name="Card2TopBar"/>
          <p:cNvSpPr/>
          <p:nvPr/>
        </p:nvSpPr>
        <p:spPr>
          <a:xfrm>
            <a:off x="4694000" y="1310000"/>
            <a:ext cx="3810000" cy="60960"/>
          </a:xfrm>
          <a:prstGeom prst="rect">
            <a:avLst/>
          </a:prstGeom>
          <a:solidFill>
            <a:srgbClr val="E8872B"/>
          </a:solidFill>
          <a:ln/>
        </p:spPr>
        <p:txBody>
          <a:bodyPr/>
          <a:lstStyle/>
          <a:p>
            <a:endParaRPr lang="en-US"/>
          </a:p>
        </p:txBody>
      </p:sp>
      <p:sp>
        <p:nvSpPr>
          <p:cNvPr id="32" name="Card2Head"/>
          <p:cNvSpPr/>
          <p:nvPr/>
        </p:nvSpPr>
        <p:spPr>
          <a:xfrm>
            <a:off x="4854000" y="1481991"/>
            <a:ext cx="3490000" cy="350000"/>
          </a:xfrm>
          <a:prstGeom prst="rect">
            <a:avLst/>
          </a:prstGeom>
          <a:noFill/>
          <a:ln/>
        </p:spPr>
        <p:txBody>
          <a:bodyPr wrap="square" lIns="0" tIns="0" rIns="0" bIns="0" rtlCol="0" anchor="ctr"/>
          <a:lstStyle/>
          <a:p>
            <a:r>
              <a:rPr lang="en-US" sz="1500" b="1">
                <a:solidFill>
                  <a:srgbClr val="0B1D3A"/>
                </a:solidFill>
                <a:latin typeface="Georgia" pitchFamily="34" charset="0"/>
              </a:rPr>
              <a:t>Combining Technical &amp; Commercial Expertise</a:t>
            </a:r>
          </a:p>
        </p:txBody>
      </p:sp>
      <p:sp>
        <p:nvSpPr>
          <p:cNvPr id="33" name="Card2Body"/>
          <p:cNvSpPr/>
          <p:nvPr/>
        </p:nvSpPr>
        <p:spPr>
          <a:xfrm>
            <a:off x="4854000" y="1943023"/>
            <a:ext cx="3490000" cy="2580000"/>
          </a:xfrm>
          <a:prstGeom prst="rect">
            <a:avLst/>
          </a:prstGeom>
          <a:noFill/>
          <a:ln/>
        </p:spPr>
        <p:txBody>
          <a:bodyPr wrap="square" lIns="0" tIns="0" rIns="0" bIns="0" rtlCol="0" anchor="t"/>
          <a:lstStyle/>
          <a:p>
            <a:pPr>
              <a:lnSpc>
                <a:spcPct val="140000"/>
              </a:lnSpc>
            </a:pPr>
            <a:r>
              <a:rPr lang="en-US" sz="1100" dirty="0">
                <a:solidFill>
                  <a:srgbClr val="3A4A5C"/>
                </a:solidFill>
                <a:latin typeface="Calibri" pitchFamily="34" charset="0"/>
              </a:rPr>
              <a:t>Most IP advisers are either patent attorneys — strong on the legal landscape but weak on commercial value — or business consultants who lack the technical depth to assess IP position accurately.</a:t>
            </a:r>
          </a:p>
          <a:p>
            <a:pPr>
              <a:lnSpc>
                <a:spcPct val="140000"/>
              </a:lnSpc>
              <a:spcBef>
                <a:spcPts val="1200"/>
              </a:spcBef>
            </a:pPr>
            <a:r>
              <a:rPr lang="en-US" sz="1100" dirty="0">
                <a:solidFill>
                  <a:srgbClr val="3A4A5C"/>
                </a:solidFill>
                <a:latin typeface="Calibri" pitchFamily="34" charset="0"/>
              </a:rPr>
              <a:t>AiPi’s team integrates both: patent expertise, scientific and technical depth, and business development experience with US market knowledge — in a single, coordinated engagement – and outstanding expertise in the fine-grain application of 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4709160"/>
            <a:ext cx="9144000" cy="434340"/>
          </a:xfrm>
          <a:prstGeom prst="rect">
            <a:avLst/>
          </a:prstGeom>
          <a:solidFill>
            <a:srgbClr val="0B1D3A"/>
          </a:solidFill>
          <a:ln/>
        </p:spPr>
        <p:txBody>
          <a:bodyPr/>
          <a:lstStyle/>
          <a:p>
            <a:endParaRPr lang="en-US"/>
          </a:p>
        </p:txBody>
      </p:sp>
      <p:sp>
        <p:nvSpPr>
          <p:cNvPr id="3" name="Text 1"/>
          <p:cNvSpPr/>
          <p:nvPr/>
        </p:nvSpPr>
        <p:spPr>
          <a:xfrm>
            <a:off x="457200" y="4709160"/>
            <a:ext cx="8229600" cy="434340"/>
          </a:xfrm>
          <a:prstGeom prst="rect">
            <a:avLst/>
          </a:prstGeom>
          <a:noFill/>
          <a:ln/>
        </p:spPr>
        <p:txBody>
          <a:bodyPr wrap="square" rtlCol="0" anchor="ctr"/>
          <a:lstStyle/>
          <a:p>
            <a:pPr marL="0" indent="0" algn="ctr">
              <a:buNone/>
            </a:pPr>
            <a:r>
              <a:rPr lang="en-US" sz="800">
                <a:solidFill>
                  <a:srgbClr val="8A9AB5"/>
                </a:solidFill>
                <a:latin typeface="Calibri" pitchFamily="34" charset="0"/>
                <a:ea typeface="Calibri" pitchFamily="34" charset="-122"/>
                <a:cs typeface="Calibri" pitchFamily="34" charset="-120"/>
              </a:rPr>
              <a:t>AiPi LLC  |  www.AiPiSolutions.com  |  Confidential</a:t>
            </a:r>
            <a:endParaRPr lang="en-US" sz="800"/>
          </a:p>
        </p:txBody>
      </p:sp>
      <p:sp>
        <p:nvSpPr>
          <p:cNvPr id="7" name="Shape 5"/>
          <p:cNvSpPr/>
          <p:nvPr/>
        </p:nvSpPr>
        <p:spPr>
          <a:xfrm>
            <a:off x="640080" y="1051560"/>
            <a:ext cx="3794760" cy="15087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US">
              <a:solidFill>
                <a:schemeClr val="bg1"/>
              </a:solidFill>
            </a:endParaRPr>
          </a:p>
        </p:txBody>
      </p:sp>
      <p:sp>
        <p:nvSpPr>
          <p:cNvPr id="10" name="Text 7"/>
          <p:cNvSpPr/>
          <p:nvPr/>
        </p:nvSpPr>
        <p:spPr>
          <a:xfrm>
            <a:off x="2444989" y="1183229"/>
            <a:ext cx="1898410" cy="320040"/>
          </a:xfrm>
          <a:prstGeom prst="rect">
            <a:avLst/>
          </a:prstGeom>
          <a:noFill/>
          <a:ln/>
        </p:spPr>
        <p:txBody>
          <a:bodyPr wrap="square" lIns="0" tIns="0" rIns="0" bIns="0" rtlCol="0" anchor="ctr"/>
          <a:lstStyle/>
          <a:p>
            <a:pPr marL="0" indent="0">
              <a:buNone/>
            </a:pPr>
            <a:r>
              <a:rPr lang="en-US" sz="1400" b="1">
                <a:latin typeface="Calibri" pitchFamily="34" charset="0"/>
                <a:ea typeface="Calibri" pitchFamily="34" charset="-122"/>
                <a:cs typeface="Calibri" pitchFamily="34" charset="-120"/>
              </a:rPr>
              <a:t>Joe Eaton</a:t>
            </a:r>
            <a:endParaRPr lang="en-US" sz="1400" b="1"/>
          </a:p>
        </p:txBody>
      </p:sp>
      <p:sp>
        <p:nvSpPr>
          <p:cNvPr id="11" name="Text 8"/>
          <p:cNvSpPr/>
          <p:nvPr/>
        </p:nvSpPr>
        <p:spPr>
          <a:xfrm>
            <a:off x="2419043" y="1451264"/>
            <a:ext cx="1969048" cy="921885"/>
          </a:xfrm>
          <a:prstGeom prst="rect">
            <a:avLst/>
          </a:prstGeom>
          <a:noFill/>
          <a:ln/>
        </p:spPr>
        <p:txBody>
          <a:bodyPr wrap="square" lIns="0" tIns="0" rIns="0" bIns="0" rtlCol="0" anchor="ctr"/>
          <a:lstStyle/>
          <a:p>
            <a:pPr marL="0" indent="0">
              <a:lnSpc>
                <a:spcPct val="115000"/>
              </a:lnSpc>
              <a:buNone/>
            </a:pPr>
            <a:r>
              <a:rPr lang="en-US" sz="1000">
                <a:solidFill>
                  <a:schemeClr val="tx1">
                    <a:lumMod val="75000"/>
                    <a:lumOff val="25000"/>
                  </a:schemeClr>
                </a:solidFill>
                <a:latin typeface="Calibri" pitchFamily="34" charset="0"/>
                <a:ea typeface="Calibri" pitchFamily="34" charset="-122"/>
                <a:cs typeface="Calibri" pitchFamily="34" charset="-120"/>
              </a:rPr>
              <a:t>One of America’s leading AI scientists &amp; managers with 13 years service at NVIDIA culminating as Distinguished System Engineer for Data &amp; Graph Analytics. </a:t>
            </a:r>
            <a:endParaRPr lang="en-US" sz="1000">
              <a:solidFill>
                <a:schemeClr val="tx1">
                  <a:lumMod val="75000"/>
                  <a:lumOff val="25000"/>
                </a:schemeClr>
              </a:solidFill>
            </a:endParaRPr>
          </a:p>
        </p:txBody>
      </p:sp>
      <p:sp>
        <p:nvSpPr>
          <p:cNvPr id="12" name="Shape 9"/>
          <p:cNvSpPr/>
          <p:nvPr/>
        </p:nvSpPr>
        <p:spPr>
          <a:xfrm>
            <a:off x="4754880" y="1051560"/>
            <a:ext cx="3794760" cy="15087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US"/>
          </a:p>
        </p:txBody>
      </p:sp>
      <p:sp>
        <p:nvSpPr>
          <p:cNvPr id="15" name="Text 11"/>
          <p:cNvSpPr/>
          <p:nvPr/>
        </p:nvSpPr>
        <p:spPr>
          <a:xfrm>
            <a:off x="6628371" y="1156143"/>
            <a:ext cx="1898410" cy="320040"/>
          </a:xfrm>
          <a:prstGeom prst="rect">
            <a:avLst/>
          </a:prstGeom>
          <a:noFill/>
          <a:ln/>
        </p:spPr>
        <p:txBody>
          <a:bodyPr wrap="square" lIns="0" tIns="0" rIns="0" bIns="0" rtlCol="0" anchor="ctr"/>
          <a:lstStyle/>
          <a:p>
            <a:pPr marL="0" indent="0">
              <a:buNone/>
            </a:pPr>
            <a:r>
              <a:rPr lang="en-US" sz="1400" b="1">
                <a:latin typeface="Calibri" pitchFamily="34" charset="0"/>
                <a:ea typeface="Calibri" pitchFamily="34" charset="-122"/>
                <a:cs typeface="Calibri" pitchFamily="34" charset="-120"/>
              </a:rPr>
              <a:t>Eric Morehouse</a:t>
            </a:r>
            <a:endParaRPr lang="en-US" sz="1400"/>
          </a:p>
        </p:txBody>
      </p:sp>
      <p:sp>
        <p:nvSpPr>
          <p:cNvPr id="17" name="Shape 13"/>
          <p:cNvSpPr/>
          <p:nvPr/>
        </p:nvSpPr>
        <p:spPr>
          <a:xfrm>
            <a:off x="640080" y="2743200"/>
            <a:ext cx="3794760" cy="15087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US"/>
          </a:p>
        </p:txBody>
      </p:sp>
      <p:sp>
        <p:nvSpPr>
          <p:cNvPr id="20" name="Text 15"/>
          <p:cNvSpPr/>
          <p:nvPr/>
        </p:nvSpPr>
        <p:spPr>
          <a:xfrm>
            <a:off x="2419043" y="2853944"/>
            <a:ext cx="1692876"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Mete </a:t>
            </a:r>
            <a:r>
              <a:rPr lang="en-US" sz="1400" b="1" dirty="0" err="1">
                <a:latin typeface="Calibri" pitchFamily="34" charset="0"/>
                <a:ea typeface="Calibri" pitchFamily="34" charset="-122"/>
                <a:cs typeface="Calibri" pitchFamily="34" charset="-120"/>
              </a:rPr>
              <a:t>Ozmen</a:t>
            </a:r>
            <a:endParaRPr lang="en-US" sz="1400" dirty="0"/>
          </a:p>
        </p:txBody>
      </p:sp>
      <p:sp>
        <p:nvSpPr>
          <p:cNvPr id="22" name="Shape 17"/>
          <p:cNvSpPr/>
          <p:nvPr/>
        </p:nvSpPr>
        <p:spPr>
          <a:xfrm>
            <a:off x="4754880" y="2743200"/>
            <a:ext cx="3794760" cy="15087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US"/>
          </a:p>
        </p:txBody>
      </p:sp>
      <p:sp>
        <p:nvSpPr>
          <p:cNvPr id="29" name="Text 2">
            <a:extLst>
              <a:ext uri="{FF2B5EF4-FFF2-40B4-BE49-F238E27FC236}">
                <a16:creationId xmlns:a16="http://schemas.microsoft.com/office/drawing/2014/main" id="{CEDB044F-EB40-6294-C738-BFEA77ABFCC8}"/>
              </a:ext>
            </a:extLst>
          </p:cNvPr>
          <p:cNvSpPr/>
          <p:nvPr/>
        </p:nvSpPr>
        <p:spPr>
          <a:xfrm>
            <a:off x="640080" y="288036"/>
            <a:ext cx="7772400" cy="457200"/>
          </a:xfrm>
          <a:prstGeom prst="rect">
            <a:avLst/>
          </a:prstGeom>
          <a:noFill/>
          <a:ln/>
        </p:spPr>
        <p:txBody>
          <a:bodyPr wrap="square" lIns="0" tIns="0" rIns="0" bIns="0" rtlCol="0" anchor="ctr"/>
          <a:lstStyle/>
          <a:p>
            <a:pPr marL="0" indent="0">
              <a:buNone/>
            </a:pPr>
            <a:r>
              <a:rPr lang="en-US" b="1">
                <a:solidFill>
                  <a:srgbClr val="0B1D3A"/>
                </a:solidFill>
                <a:latin typeface="Georgia" pitchFamily="34" charset="0"/>
                <a:ea typeface="Georgia" pitchFamily="34" charset="-122"/>
                <a:cs typeface="Georgia" pitchFamily="34" charset="-120"/>
              </a:rPr>
              <a:t>AiPi’s Leadership Team</a:t>
            </a:r>
            <a:endParaRPr lang="en-US"/>
          </a:p>
        </p:txBody>
      </p:sp>
      <p:sp>
        <p:nvSpPr>
          <p:cNvPr id="30" name="Shape 3">
            <a:extLst>
              <a:ext uri="{FF2B5EF4-FFF2-40B4-BE49-F238E27FC236}">
                <a16:creationId xmlns:a16="http://schemas.microsoft.com/office/drawing/2014/main" id="{39B5617F-43F3-7568-56B9-EDC2FC2EBEB6}"/>
              </a:ext>
            </a:extLst>
          </p:cNvPr>
          <p:cNvSpPr/>
          <p:nvPr/>
        </p:nvSpPr>
        <p:spPr>
          <a:xfrm>
            <a:off x="640080" y="804672"/>
            <a:ext cx="1097280" cy="36576"/>
          </a:xfrm>
          <a:prstGeom prst="rect">
            <a:avLst/>
          </a:prstGeom>
          <a:solidFill>
            <a:srgbClr val="E8872B"/>
          </a:solidFill>
          <a:ln/>
        </p:spPr>
        <p:txBody>
          <a:bodyPr/>
          <a:lstStyle/>
          <a:p>
            <a:endParaRPr lang="en-US"/>
          </a:p>
        </p:txBody>
      </p:sp>
      <p:sp>
        <p:nvSpPr>
          <p:cNvPr id="31" name="Text 8">
            <a:extLst>
              <a:ext uri="{FF2B5EF4-FFF2-40B4-BE49-F238E27FC236}">
                <a16:creationId xmlns:a16="http://schemas.microsoft.com/office/drawing/2014/main" id="{7ADFE215-7955-4B39-4D40-2153CA40E42A}"/>
              </a:ext>
            </a:extLst>
          </p:cNvPr>
          <p:cNvSpPr/>
          <p:nvPr/>
        </p:nvSpPr>
        <p:spPr>
          <a:xfrm>
            <a:off x="2419043" y="3103401"/>
            <a:ext cx="1898410" cy="988539"/>
          </a:xfrm>
          <a:prstGeom prst="rect">
            <a:avLst/>
          </a:prstGeom>
          <a:noFill/>
          <a:ln/>
        </p:spPr>
        <p:txBody>
          <a:bodyPr wrap="square" lIns="0" tIns="0" rIns="0" bIns="0" rtlCol="0" anchor="ctr"/>
          <a:lstStyle/>
          <a:p>
            <a:pPr marL="0" indent="0">
              <a:lnSpc>
                <a:spcPct val="115000"/>
              </a:lnSpc>
              <a:buNone/>
            </a:pPr>
            <a:r>
              <a:rPr lang="en-US" sz="1000" dirty="0">
                <a:solidFill>
                  <a:schemeClr val="tx1">
                    <a:lumMod val="75000"/>
                    <a:lumOff val="25000"/>
                  </a:schemeClr>
                </a:solidFill>
                <a:latin typeface="Calibri" pitchFamily="34" charset="0"/>
                <a:ea typeface="Calibri" pitchFamily="34" charset="-122"/>
                <a:cs typeface="Calibri" pitchFamily="34" charset="-120"/>
              </a:rPr>
              <a:t>International business development and corporate finance executive with over 20 years’ experience of innovative product go-to-market in EMEA &amp; the USA.</a:t>
            </a:r>
            <a:endParaRPr lang="en-US" sz="1000" dirty="0">
              <a:solidFill>
                <a:schemeClr val="tx1">
                  <a:lumMod val="75000"/>
                  <a:lumOff val="25000"/>
                </a:schemeClr>
              </a:solidFill>
            </a:endParaRPr>
          </a:p>
        </p:txBody>
      </p:sp>
      <p:sp>
        <p:nvSpPr>
          <p:cNvPr id="33" name="Text 8">
            <a:extLst>
              <a:ext uri="{FF2B5EF4-FFF2-40B4-BE49-F238E27FC236}">
                <a16:creationId xmlns:a16="http://schemas.microsoft.com/office/drawing/2014/main" id="{4BFF5E67-29AD-18DD-6875-4132991C7E5C}"/>
              </a:ext>
            </a:extLst>
          </p:cNvPr>
          <p:cNvSpPr/>
          <p:nvPr/>
        </p:nvSpPr>
        <p:spPr>
          <a:xfrm>
            <a:off x="6605512" y="1389460"/>
            <a:ext cx="1898410" cy="983689"/>
          </a:xfrm>
          <a:prstGeom prst="rect">
            <a:avLst/>
          </a:prstGeom>
          <a:noFill/>
          <a:ln/>
        </p:spPr>
        <p:txBody>
          <a:bodyPr wrap="square" lIns="0" tIns="0" rIns="0" bIns="0" rtlCol="0" anchor="ctr"/>
          <a:lstStyle/>
          <a:p>
            <a:pPr marL="0" indent="0">
              <a:lnSpc>
                <a:spcPct val="115000"/>
              </a:lnSpc>
              <a:buNone/>
            </a:pPr>
            <a:r>
              <a:rPr lang="en-US" sz="1000" dirty="0">
                <a:solidFill>
                  <a:schemeClr val="tx1">
                    <a:lumMod val="75000"/>
                    <a:lumOff val="25000"/>
                  </a:schemeClr>
                </a:solidFill>
                <a:latin typeface="Calibri" pitchFamily="34" charset="0"/>
                <a:cs typeface="Calibri" pitchFamily="34" charset="-120"/>
              </a:rPr>
              <a:t>Veteran IP attorney and entrepreneur.  Founder of AiPi - with over 30 years’ experience advising clients including DoD on commercialising cutting-edge IP.</a:t>
            </a:r>
            <a:endParaRPr lang="en-US" sz="1000" dirty="0">
              <a:solidFill>
                <a:schemeClr val="tx1">
                  <a:lumMod val="75000"/>
                  <a:lumOff val="25000"/>
                </a:schemeClr>
              </a:solidFill>
            </a:endParaRPr>
          </a:p>
        </p:txBody>
      </p:sp>
      <p:sp>
        <p:nvSpPr>
          <p:cNvPr id="34" name="Text 11">
            <a:extLst>
              <a:ext uri="{FF2B5EF4-FFF2-40B4-BE49-F238E27FC236}">
                <a16:creationId xmlns:a16="http://schemas.microsoft.com/office/drawing/2014/main" id="{A527A87B-B4DC-BD5B-23CD-AE5D4D612B4A}"/>
              </a:ext>
            </a:extLst>
          </p:cNvPr>
          <p:cNvSpPr/>
          <p:nvPr/>
        </p:nvSpPr>
        <p:spPr>
          <a:xfrm>
            <a:off x="6628370" y="2866644"/>
            <a:ext cx="189841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Drew Davis</a:t>
            </a:r>
            <a:endParaRPr lang="en-US" sz="1400" dirty="0"/>
          </a:p>
        </p:txBody>
      </p:sp>
      <p:sp>
        <p:nvSpPr>
          <p:cNvPr id="35" name="Text 8">
            <a:extLst>
              <a:ext uri="{FF2B5EF4-FFF2-40B4-BE49-F238E27FC236}">
                <a16:creationId xmlns:a16="http://schemas.microsoft.com/office/drawing/2014/main" id="{DB15ED4B-F7F6-3F3F-755F-6880E99AA5F7}"/>
              </a:ext>
            </a:extLst>
          </p:cNvPr>
          <p:cNvSpPr/>
          <p:nvPr/>
        </p:nvSpPr>
        <p:spPr>
          <a:xfrm>
            <a:off x="6605510" y="2926393"/>
            <a:ext cx="1898410" cy="1329428"/>
          </a:xfrm>
          <a:prstGeom prst="rect">
            <a:avLst/>
          </a:prstGeom>
          <a:noFill/>
          <a:ln/>
        </p:spPr>
        <p:txBody>
          <a:bodyPr wrap="square" lIns="0" tIns="0" rIns="0" bIns="0" rtlCol="0" anchor="ctr"/>
          <a:lstStyle/>
          <a:p>
            <a:pPr marL="0" indent="0">
              <a:lnSpc>
                <a:spcPct val="115000"/>
              </a:lnSpc>
              <a:buNone/>
            </a:pPr>
            <a:r>
              <a:rPr lang="en-US" sz="1000" dirty="0">
                <a:solidFill>
                  <a:schemeClr val="tx1">
                    <a:lumMod val="75000"/>
                    <a:lumOff val="25000"/>
                  </a:schemeClr>
                </a:solidFill>
                <a:latin typeface="Calibri" pitchFamily="34" charset="0"/>
                <a:ea typeface="Calibri" pitchFamily="34" charset="-122"/>
                <a:cs typeface="Calibri" pitchFamily="34" charset="-120"/>
              </a:rPr>
              <a:t>Oxford educated COO and Chief of Staff with multi-sector organisational experience building teams to solve complex operational challenges</a:t>
            </a:r>
            <a:endParaRPr lang="en-US" sz="1000" dirty="0">
              <a:solidFill>
                <a:schemeClr val="tx1">
                  <a:lumMod val="75000"/>
                  <a:lumOff val="25000"/>
                </a:schemeClr>
              </a:solidFill>
            </a:endParaRPr>
          </a:p>
        </p:txBody>
      </p:sp>
      <p:pic>
        <p:nvPicPr>
          <p:cNvPr id="37" name="Picture 36">
            <a:extLst>
              <a:ext uri="{FF2B5EF4-FFF2-40B4-BE49-F238E27FC236}">
                <a16:creationId xmlns:a16="http://schemas.microsoft.com/office/drawing/2014/main" id="{8E762D52-F6FF-DE0B-7E20-DEEF7FDE2518}"/>
              </a:ext>
            </a:extLst>
          </p:cNvPr>
          <p:cNvPicPr>
            <a:picLocks noChangeAspect="1"/>
          </p:cNvPicPr>
          <p:nvPr/>
        </p:nvPicPr>
        <p:blipFill>
          <a:blip r:embed="rId3"/>
          <a:stretch>
            <a:fillRect/>
          </a:stretch>
        </p:blipFill>
        <p:spPr>
          <a:xfrm>
            <a:off x="617219" y="1051560"/>
            <a:ext cx="1508759" cy="1508759"/>
          </a:xfrm>
          <a:prstGeom prst="rect">
            <a:avLst/>
          </a:prstGeom>
        </p:spPr>
      </p:pic>
      <p:pic>
        <p:nvPicPr>
          <p:cNvPr id="39" name="Picture 38">
            <a:extLst>
              <a:ext uri="{FF2B5EF4-FFF2-40B4-BE49-F238E27FC236}">
                <a16:creationId xmlns:a16="http://schemas.microsoft.com/office/drawing/2014/main" id="{5A223A40-B545-047D-6F51-BB1C8E18BCC1}"/>
              </a:ext>
            </a:extLst>
          </p:cNvPr>
          <p:cNvPicPr>
            <a:picLocks noChangeAspect="1"/>
          </p:cNvPicPr>
          <p:nvPr/>
        </p:nvPicPr>
        <p:blipFill>
          <a:blip r:embed="rId4"/>
          <a:stretch>
            <a:fillRect/>
          </a:stretch>
        </p:blipFill>
        <p:spPr>
          <a:xfrm>
            <a:off x="4753851" y="1051561"/>
            <a:ext cx="1508760" cy="1508760"/>
          </a:xfrm>
          <a:prstGeom prst="rect">
            <a:avLst/>
          </a:prstGeom>
        </p:spPr>
      </p:pic>
      <p:pic>
        <p:nvPicPr>
          <p:cNvPr id="41" name="Picture 40">
            <a:extLst>
              <a:ext uri="{FF2B5EF4-FFF2-40B4-BE49-F238E27FC236}">
                <a16:creationId xmlns:a16="http://schemas.microsoft.com/office/drawing/2014/main" id="{52E5D144-AD2E-522B-B06F-B1568C090C8C}"/>
              </a:ext>
            </a:extLst>
          </p:cNvPr>
          <p:cNvPicPr>
            <a:picLocks noChangeAspect="1"/>
          </p:cNvPicPr>
          <p:nvPr/>
        </p:nvPicPr>
        <p:blipFill>
          <a:blip r:embed="rId5"/>
          <a:stretch>
            <a:fillRect/>
          </a:stretch>
        </p:blipFill>
        <p:spPr>
          <a:xfrm>
            <a:off x="639051" y="2741225"/>
            <a:ext cx="1508759" cy="1508759"/>
          </a:xfrm>
          <a:prstGeom prst="rect">
            <a:avLst/>
          </a:prstGeom>
        </p:spPr>
      </p:pic>
      <p:pic>
        <p:nvPicPr>
          <p:cNvPr id="43" name="Picture 42">
            <a:extLst>
              <a:ext uri="{FF2B5EF4-FFF2-40B4-BE49-F238E27FC236}">
                <a16:creationId xmlns:a16="http://schemas.microsoft.com/office/drawing/2014/main" id="{AFF5FEC6-E0C3-5FCF-731A-1AEC7D445976}"/>
              </a:ext>
            </a:extLst>
          </p:cNvPr>
          <p:cNvPicPr>
            <a:picLocks noChangeAspect="1"/>
          </p:cNvPicPr>
          <p:nvPr/>
        </p:nvPicPr>
        <p:blipFill>
          <a:blip r:embed="rId6"/>
          <a:stretch>
            <a:fillRect/>
          </a:stretch>
        </p:blipFill>
        <p:spPr>
          <a:xfrm>
            <a:off x="4753850" y="2737053"/>
            <a:ext cx="1508760" cy="1508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4086</TotalTime>
  <Words>1173</Words>
  <Application>Microsoft Macintosh PowerPoint</Application>
  <PresentationFormat>On-screen Show (16:9)</PresentationFormat>
  <Paragraphs>98</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AiPi Strategic IP Plan for SPONIX</dc:title>
  <dc:subject>PptxGenJS Presentation</dc:subject>
  <dc:creator>AiPi Solutions</dc:creator>
  <cp:lastModifiedBy>Cole Morehouse</cp:lastModifiedBy>
  <cp:revision>27</cp:revision>
  <dcterms:created xsi:type="dcterms:W3CDTF">2026-02-06T16:54:07Z</dcterms:created>
  <dcterms:modified xsi:type="dcterms:W3CDTF">2026-04-17T17:08:16Z</dcterms:modified>
</cp:coreProperties>
</file>